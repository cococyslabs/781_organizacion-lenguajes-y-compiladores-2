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Roboto ExtraLight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Roboto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iIrPrdyw7uEvi4CvKx4apz72Lb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EDF3CF-8507-41D1-86BF-15DABEF49DCB}">
  <a:tblStyle styleId="{2DEDF3CF-8507-41D1-86BF-15DABEF49DC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font" Target="fonts/RobotoExtraLight-regular.fntdata"/><Relationship Id="rId21" Type="http://schemas.openxmlformats.org/officeDocument/2006/relationships/slide" Target="slides/slide15.xml"/><Relationship Id="rId24" Type="http://schemas.openxmlformats.org/officeDocument/2006/relationships/font" Target="fonts/RobotoExtraLight-italic.fntdata"/><Relationship Id="rId23" Type="http://schemas.openxmlformats.org/officeDocument/2006/relationships/font" Target="fonts/RobotoExtra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RobotoExtraLight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.fntdata"/><Relationship Id="rId12" Type="http://schemas.openxmlformats.org/officeDocument/2006/relationships/slide" Target="slides/slide6.xml"/><Relationship Id="rId34" Type="http://schemas.openxmlformats.org/officeDocument/2006/relationships/font" Target="fonts/RobotoLight-regular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Light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250a17ee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9250a17e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250a17ee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9250a17ee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8c39a8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28c39a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250a17e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9250a17e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250a17ee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9250a17ee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250a17ee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9250a17e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8c39a87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28c39a8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250a17e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9250a17e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250a17ee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9250a17e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250a17ee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9250a17e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9250a17ee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9250a17e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8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8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9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1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p2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p2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p2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p2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6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TfiZuksThyTLzkfo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orms.gle/aJWSNVA93qq2JufA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orms.gle/xQ2vnyTUNw7XNxG67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 txBox="1"/>
          <p:nvPr/>
        </p:nvSpPr>
        <p:spPr>
          <a:xfrm>
            <a:off x="5792625" y="674550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Omar Vides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/>
          <p:nvPr/>
        </p:nvSpPr>
        <p:spPr>
          <a:xfrm rot="10800000">
            <a:off x="2408175" y="3610650"/>
            <a:ext cx="13471800" cy="30657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829375" y="4820250"/>
            <a:ext cx="1262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 N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1810375" y="23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{2DEDF3CF-8507-41D1-86BF-15DABEF49DCB}</a:tableStyleId>
              </a:tblPr>
              <a:tblGrid>
                <a:gridCol w="1225625"/>
                <a:gridCol w="4074875"/>
              </a:tblGrid>
              <a:tr h="5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/>
                        <a:t>Fecha</a:t>
                      </a:r>
                      <a:endParaRPr b="1" sz="2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/>
                        <a:t>14</a:t>
                      </a:r>
                      <a:r>
                        <a:rPr lang="en-US" sz="2500" u="none" cap="none" strike="noStrike"/>
                        <a:t>/</a:t>
                      </a:r>
                      <a:r>
                        <a:rPr lang="en-US" sz="2500"/>
                        <a:t>07</a:t>
                      </a:r>
                      <a:r>
                        <a:rPr lang="en-US" sz="2500" u="none" cap="none" strike="noStrike"/>
                        <a:t>/2026</a:t>
                      </a:r>
                      <a:endParaRPr sz="25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3102001" y="4466250"/>
            <a:ext cx="12084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Semana de Diagnóstico</a:t>
            </a:r>
            <a:endParaRPr b="1" i="0" sz="8799" u="none" cap="none" strike="noStrike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250a17ee_1_47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9" name="Google Shape;89;g3d9250a17ee_1_47"/>
          <p:cNvSpPr txBox="1"/>
          <p:nvPr>
            <p:ph idx="1" type="body"/>
          </p:nvPr>
        </p:nvSpPr>
        <p:spPr>
          <a:xfrm>
            <a:off x="685800" y="3076975"/>
            <a:ext cx="8009100" cy="6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Bienvenida y Presentación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Previos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Presentación de Estudiantes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Senso de Horarios de Calificación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Programa del Curso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del Curso Actual</a:t>
            </a:r>
            <a:endParaRPr/>
          </a:p>
        </p:txBody>
      </p:sp>
      <p:pic>
        <p:nvPicPr>
          <p:cNvPr id="90" name="Google Shape;90;g3d9250a17ee_1_47" title="icon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4900" y="407875"/>
            <a:ext cx="9288300" cy="92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250a17ee_1_7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Presentación del Tutor</a:t>
            </a:r>
            <a:endParaRPr/>
          </a:p>
        </p:txBody>
      </p:sp>
      <p:sp>
        <p:nvSpPr>
          <p:cNvPr id="96" name="Google Shape;96;g3d9250a17ee_1_7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Dudas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Material de Apoyo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Ejercicios de Práctica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Apoyo Técnico</a:t>
            </a:r>
            <a:endParaRPr/>
          </a:p>
        </p:txBody>
      </p:sp>
      <p:pic>
        <p:nvPicPr>
          <p:cNvPr descr="avatar (proporcionada por Getty Images)" id="97" name="Google Shape;97;g3d9250a17ee_1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150" y="1237675"/>
            <a:ext cx="8131625" cy="81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8c39a874_0_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Evaluación de Conocimientos Previos</a:t>
            </a:r>
            <a:endParaRPr/>
          </a:p>
        </p:txBody>
      </p:sp>
      <p:sp>
        <p:nvSpPr>
          <p:cNvPr id="103" name="Google Shape;103;g3e28c39a874_0_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250a17ee_1_85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Presentación de Estudiantes</a:t>
            </a:r>
            <a:endParaRPr/>
          </a:p>
        </p:txBody>
      </p:sp>
      <p:sp>
        <p:nvSpPr>
          <p:cNvPr id="109" name="Google Shape;109;g3d9250a17ee_1_85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¡Conozcámonos un poco!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250a17ee_1_95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Senso: Horarios de Calificación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Cuestionario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250a17ee_1_99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Programa del Curso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28c39a874_0_6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Evaluación de Conocimientos Actuales</a:t>
            </a:r>
            <a:endParaRPr/>
          </a:p>
        </p:txBody>
      </p:sp>
      <p:sp>
        <p:nvSpPr>
          <p:cNvPr id="125" name="Google Shape;125;g3e28c39a874_0_6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250a17ee_1_10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Motivaciones para estudiar compiladores</a:t>
            </a:r>
            <a:endParaRPr/>
          </a:p>
        </p:txBody>
      </p:sp>
      <p:sp>
        <p:nvSpPr>
          <p:cNvPr id="131" name="Google Shape;131;g3d9250a17ee_1_10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Aprenderás a…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Integrar múltiples áreas de la Ciencias de la Computación en un solo sistema.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Razonar con precisión usando gramáticas y análisis formal.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Entender qué ocurre entre escribir código y su ejecución en máquina.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Aplicar estructuras de datos y algoritmos en problemas complejos.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Desarrollar intérpretes, editores y herramientas de análisis.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Sentar bases para áreas como la Inteligencia Artificial.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Comprender y diseñar lenguajes de programación.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2" name="Google Shape;132;g3d9250a17ee_1_10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250a17ee_1_11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Breve Historia del Compilador</a:t>
            </a:r>
            <a:endParaRPr/>
          </a:p>
        </p:txBody>
      </p:sp>
      <p:pic>
        <p:nvPicPr>
          <p:cNvPr id="138" name="Google Shape;138;g3d9250a17ee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211" y="2446900"/>
            <a:ext cx="12351625" cy="68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d9250a17ee_1_112" title="ide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9275" y="5498650"/>
            <a:ext cx="7182501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250a17ee_1_11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Estructura de un Compilador</a:t>
            </a:r>
            <a:endParaRPr/>
          </a:p>
        </p:txBody>
      </p:sp>
      <p:sp>
        <p:nvSpPr>
          <p:cNvPr id="145" name="Google Shape;145;g3d9250a17ee_1_11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Léxico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palabras (tokens)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Sintáctico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sentencias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Semántico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Analizar sentido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Generación de Código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Traducción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Optimización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Edición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d9250a17ee_1_11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700" y="4339350"/>
            <a:ext cx="9086477" cy="60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d9250a17ee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2975" y="5024423"/>
            <a:ext cx="6722599" cy="42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9250a17ee_1_15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Tarea de Repaso</a:t>
            </a:r>
            <a:endParaRPr/>
          </a:p>
        </p:txBody>
      </p:sp>
      <p:sp>
        <p:nvSpPr>
          <p:cNvPr id="153" name="Google Shape;153;g3d9250a17ee_1_15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Validemos conocimientos previos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/>
          <p:nvPr/>
        </p:nvSpPr>
        <p:spPr>
          <a:xfrm>
            <a:off x="3861682" y="8119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