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10287000" cx="18288000"/>
  <p:notesSz cx="6858000" cy="9144000"/>
  <p:embeddedFontLst>
    <p:embeddedFont>
      <p:font typeface="Roboto ExtraLight"/>
      <p:regular r:id="rId22"/>
      <p:bold r:id="rId23"/>
      <p:italic r:id="rId24"/>
      <p:boldItalic r:id="rId25"/>
    </p:embeddedFont>
    <p:embeddedFont>
      <p:font typeface="Roboto"/>
      <p:regular r:id="rId26"/>
      <p:bold r:id="rId27"/>
      <p:italic r:id="rId28"/>
      <p:boldItalic r:id="rId29"/>
    </p:embeddedFont>
    <p:embeddedFont>
      <p:font typeface="Roboto Medium"/>
      <p:regular r:id="rId30"/>
      <p:bold r:id="rId31"/>
      <p:italic r:id="rId32"/>
      <p:boldItalic r:id="rId33"/>
    </p:embeddedFont>
    <p:embeddedFont>
      <p:font typeface="Roboto Light"/>
      <p:regular r:id="rId34"/>
      <p:bold r:id="rId35"/>
      <p:italic r:id="rId36"/>
      <p:boldItalic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2" roundtripDataSignature="AMtx7miDIM0l8+tM9hhgV1iP4zhTCYyy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242825-7B73-4E38-B786-942F6C93CC55}">
  <a:tblStyle styleId="{4A242825-7B73-4E38-B786-942F6C93CC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font" Target="fonts/OpenSans-boldItalic.fntdata"/><Relationship Id="rId22" Type="http://schemas.openxmlformats.org/officeDocument/2006/relationships/font" Target="fonts/RobotoExtraLight-regular.fntdata"/><Relationship Id="rId21" Type="http://schemas.openxmlformats.org/officeDocument/2006/relationships/slide" Target="slides/slide15.xml"/><Relationship Id="rId24" Type="http://schemas.openxmlformats.org/officeDocument/2006/relationships/font" Target="fonts/RobotoExtraLight-italic.fntdata"/><Relationship Id="rId23" Type="http://schemas.openxmlformats.org/officeDocument/2006/relationships/font" Target="fonts/RobotoExtra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regular.fntdata"/><Relationship Id="rId25" Type="http://schemas.openxmlformats.org/officeDocument/2006/relationships/font" Target="fonts/RobotoExtraLight-boldItalic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edium-bold.fntdata"/><Relationship Id="rId30" Type="http://schemas.openxmlformats.org/officeDocument/2006/relationships/font" Target="fonts/RobotoMedium-regular.fntdata"/><Relationship Id="rId11" Type="http://schemas.openxmlformats.org/officeDocument/2006/relationships/slide" Target="slides/slide5.xml"/><Relationship Id="rId33" Type="http://schemas.openxmlformats.org/officeDocument/2006/relationships/font" Target="fonts/Roboto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Medium-italic.fntdata"/><Relationship Id="rId13" Type="http://schemas.openxmlformats.org/officeDocument/2006/relationships/slide" Target="slides/slide7.xml"/><Relationship Id="rId35" Type="http://schemas.openxmlformats.org/officeDocument/2006/relationships/font" Target="fonts/RobotoLight-bold.fntdata"/><Relationship Id="rId12" Type="http://schemas.openxmlformats.org/officeDocument/2006/relationships/slide" Target="slides/slide6.xml"/><Relationship Id="rId34" Type="http://schemas.openxmlformats.org/officeDocument/2006/relationships/font" Target="fonts/RobotoLight-regular.fntdata"/><Relationship Id="rId15" Type="http://schemas.openxmlformats.org/officeDocument/2006/relationships/slide" Target="slides/slide9.xml"/><Relationship Id="rId37" Type="http://schemas.openxmlformats.org/officeDocument/2006/relationships/font" Target="fonts/RobotoLight-boldItalic.fntdata"/><Relationship Id="rId14" Type="http://schemas.openxmlformats.org/officeDocument/2006/relationships/slide" Target="slides/slide8.xml"/><Relationship Id="rId36" Type="http://schemas.openxmlformats.org/officeDocument/2006/relationships/font" Target="fonts/RobotoLight-italic.fntdata"/><Relationship Id="rId17" Type="http://schemas.openxmlformats.org/officeDocument/2006/relationships/slide" Target="slides/slide11.xml"/><Relationship Id="rId39" Type="http://schemas.openxmlformats.org/officeDocument/2006/relationships/font" Target="fonts/OpenSans-bold.fntdata"/><Relationship Id="rId16" Type="http://schemas.openxmlformats.org/officeDocument/2006/relationships/slide" Target="slides/slide10.xml"/><Relationship Id="rId38" Type="http://schemas.openxmlformats.org/officeDocument/2006/relationships/font" Target="fonts/OpenSans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9250a17ee_1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9250a17ee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9250a17ee_1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9250a17ee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28c39a87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28c39a8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9250a17ee_1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9250a17ee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9250a17ee_1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9250a17ee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9250a17ee_1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9250a17ee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28c39a874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28c39a87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9250a17ee_1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9250a17ee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9250a17ee_1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9250a17ee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9250a17ee_1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9250a17ee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9250a17ee_1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9250a17ee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/>
          <p:nvPr/>
        </p:nvSpPr>
        <p:spPr>
          <a:xfrm>
            <a:off x="681150" y="2919538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8"/>
          <p:cNvSpPr txBox="1"/>
          <p:nvPr>
            <p:ph idx="11" type="ftr"/>
          </p:nvPr>
        </p:nvSpPr>
        <p:spPr>
          <a:xfrm>
            <a:off x="3146250" y="575723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6575250" y="5757238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8"/>
          <p:cNvSpPr/>
          <p:nvPr/>
        </p:nvSpPr>
        <p:spPr>
          <a:xfrm rot="10800000">
            <a:off x="2786850" y="5903763"/>
            <a:ext cx="12758400" cy="1463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8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idx="11" type="ftr"/>
          </p:nvPr>
        </p:nvSpPr>
        <p:spPr>
          <a:xfrm>
            <a:off x="3025875" y="67613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2" type="sldNum"/>
          </p:nvPr>
        </p:nvSpPr>
        <p:spPr>
          <a:xfrm>
            <a:off x="6454875" y="67613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9"/>
          <p:cNvSpPr/>
          <p:nvPr/>
        </p:nvSpPr>
        <p:spPr>
          <a:xfrm>
            <a:off x="1148475" y="72220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9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0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/>
          <p:nvPr/>
        </p:nvSpPr>
        <p:spPr>
          <a:xfrm>
            <a:off x="733800" y="1237675"/>
            <a:ext cx="7913100" cy="1761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0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/>
          <p:nvPr/>
        </p:nvSpPr>
        <p:spPr>
          <a:xfrm>
            <a:off x="733800" y="3076975"/>
            <a:ext cx="7913100" cy="6321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0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oboto Medium"/>
              <a:buNone/>
              <a:defRPr sz="25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Roboto"/>
              <a:buNone/>
              <a:defRPr sz="23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Roboto Light"/>
              <a:buNone/>
              <a:defRPr sz="2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21"/>
          <p:cNvSpPr/>
          <p:nvPr/>
        </p:nvSpPr>
        <p:spPr>
          <a:xfrm>
            <a:off x="1148475" y="75685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1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2" type="ftr"/>
          </p:nvPr>
        </p:nvSpPr>
        <p:spPr>
          <a:xfrm>
            <a:off x="2033490" y="6761300"/>
            <a:ext cx="136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3" type="sldNum"/>
          </p:nvPr>
        </p:nvSpPr>
        <p:spPr>
          <a:xfrm>
            <a:off x="3649936" y="6761300"/>
            <a:ext cx="100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21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1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0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45" name="Google Shape;45;p21"/>
          <p:cNvSpPr txBox="1"/>
          <p:nvPr>
            <p:ph idx="4" type="sldNum"/>
          </p:nvPr>
        </p:nvSpPr>
        <p:spPr>
          <a:xfrm>
            <a:off x="11491720" y="6783200"/>
            <a:ext cx="112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21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0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/>
          <p:nvPr/>
        </p:nvSpPr>
        <p:spPr>
          <a:xfrm>
            <a:off x="4951829" y="4789363"/>
            <a:ext cx="8384400" cy="708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50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950" lIns="47950" spcFirstLastPara="1" rIns="47950" wrap="square" tIns="47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3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2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50" spcFirstLastPara="1" rIns="47950" wrap="square" tIns="23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1"/>
              <a:buFont typeface="Roboto"/>
              <a:buNone/>
              <a:defRPr b="1" sz="2884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9pPr>
          </a:lstStyle>
          <a:p/>
        </p:txBody>
      </p:sp>
      <p:sp>
        <p:nvSpPr>
          <p:cNvPr id="50" name="Google Shape;50;p22"/>
          <p:cNvSpPr/>
          <p:nvPr/>
        </p:nvSpPr>
        <p:spPr>
          <a:xfrm>
            <a:off x="759600" y="378650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2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  <a:solidFill>
            <a:srgbClr val="394C60">
              <a:alpha val="780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2" name="Google Shape;52;p22"/>
          <p:cNvSpPr/>
          <p:nvPr/>
        </p:nvSpPr>
        <p:spPr>
          <a:xfrm>
            <a:off x="9144000" y="378650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2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  <a:solidFill>
            <a:srgbClr val="394C60">
              <a:alpha val="780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4" name="Google Shape;54;p22"/>
          <p:cNvSpPr/>
          <p:nvPr/>
        </p:nvSpPr>
        <p:spPr>
          <a:xfrm>
            <a:off x="759600" y="5596175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2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  <a:solidFill>
            <a:srgbClr val="394C60">
              <a:alpha val="780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6" name="Google Shape;56;p22"/>
          <p:cNvSpPr/>
          <p:nvPr/>
        </p:nvSpPr>
        <p:spPr>
          <a:xfrm>
            <a:off x="9144000" y="5596175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2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  <a:solidFill>
            <a:srgbClr val="394C60">
              <a:alpha val="780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/>
          <p:nvPr/>
        </p:nvSpPr>
        <p:spPr>
          <a:xfrm>
            <a:off x="692175" y="3242525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3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/>
          <p:nvPr/>
        </p:nvSpPr>
        <p:spPr>
          <a:xfrm>
            <a:off x="3351000" y="7415650"/>
            <a:ext cx="11586000" cy="1229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25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6" title="Fondo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0"/>
            <a:ext cx="18278300" cy="10287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reate.kahoot.it/share/prev-olc2-2s2026/10699fd8-81a6-4157-ad5c-2ec142993205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reate.kahoot.it/share/olc2-2s2026/592ccb73-dda1-4e65-b447-a78fba2cd796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"/>
          <p:cNvSpPr txBox="1"/>
          <p:nvPr/>
        </p:nvSpPr>
        <p:spPr>
          <a:xfrm>
            <a:off x="5792625" y="674550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348639" y="9201150"/>
            <a:ext cx="4067111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i="0" lang="en-US" sz="314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"/>
          <p:cNvSpPr/>
          <p:nvPr/>
        </p:nvSpPr>
        <p:spPr>
          <a:xfrm rot="10800000">
            <a:off x="2408175" y="3610650"/>
            <a:ext cx="13471800" cy="3065700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829375" y="4820250"/>
            <a:ext cx="1262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4200"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7" name="Google Shape;77;p1"/>
          <p:cNvGraphicFramePr/>
          <p:nvPr/>
        </p:nvGraphicFramePr>
        <p:xfrm>
          <a:off x="11810375" y="234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{4A242825-7B73-4E38-B786-942F6C93CC55}</a:tableStyleId>
              </a:tblPr>
              <a:tblGrid>
                <a:gridCol w="1225625"/>
                <a:gridCol w="4074875"/>
              </a:tblGrid>
              <a:tr h="54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/>
                        <a:t>Fecha</a:t>
                      </a:r>
                      <a:endParaRPr b="1"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DD/MM/2026</a:t>
                      </a:r>
                      <a:endParaRPr sz="2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0" y="0"/>
            <a:ext cx="18288000" cy="10297287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2"/>
          <p:cNvSpPr txBox="1"/>
          <p:nvPr/>
        </p:nvSpPr>
        <p:spPr>
          <a:xfrm>
            <a:off x="3102001" y="4466250"/>
            <a:ext cx="120840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Semana de Diagnóstico</a:t>
            </a:r>
            <a:endParaRPr b="1" i="0" sz="8799" u="none" cap="none" strike="noStrike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9250a17ee_1_47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89" name="Google Shape;89;g3d9250a17ee_1_47"/>
          <p:cNvSpPr txBox="1"/>
          <p:nvPr>
            <p:ph idx="1" type="body"/>
          </p:nvPr>
        </p:nvSpPr>
        <p:spPr>
          <a:xfrm>
            <a:off x="685800" y="3076975"/>
            <a:ext cx="8009100" cy="629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Bienvenida y Presentaci</a:t>
            </a:r>
            <a:r>
              <a:rPr lang="en-US"/>
              <a:t>ón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Evaluación de Conocimientos Previos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Presentación de Estudiantes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Senso de Horarios de Calificación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Programa del Curso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Evaluación de Conocimientos del Curso Actual</a:t>
            </a:r>
            <a:endParaRPr/>
          </a:p>
        </p:txBody>
      </p:sp>
      <p:pic>
        <p:nvPicPr>
          <p:cNvPr id="90" name="Google Shape;90;g3d9250a17ee_1_47" title="icon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94900" y="407875"/>
            <a:ext cx="9288300" cy="92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9250a17ee_1_75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Presentaci</a:t>
            </a:r>
            <a:r>
              <a:rPr lang="en-US"/>
              <a:t>ón del Tutor</a:t>
            </a:r>
            <a:endParaRPr/>
          </a:p>
        </p:txBody>
      </p:sp>
      <p:sp>
        <p:nvSpPr>
          <p:cNvPr id="96" name="Google Shape;96;g3d9250a17ee_1_75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Resoluci</a:t>
            </a:r>
            <a:r>
              <a:rPr lang="en-US"/>
              <a:t>ón de Dudas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Proveer Material de Apoyo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Proveer </a:t>
            </a:r>
            <a:r>
              <a:rPr lang="en-US"/>
              <a:t>Ejercicios de Práctica</a:t>
            </a:r>
            <a:endParaRPr/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Apoyo Técnico</a:t>
            </a:r>
            <a:endParaRPr/>
          </a:p>
        </p:txBody>
      </p:sp>
      <p:pic>
        <p:nvPicPr>
          <p:cNvPr descr="avatar (proporcionada por Getty Images)" id="97" name="Google Shape;97;g3d9250a17ee_1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1150" y="1237675"/>
            <a:ext cx="8131625" cy="813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28c39a874_0_0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Evaluación de Conocimientos Previos</a:t>
            </a:r>
            <a:endParaRPr/>
          </a:p>
        </p:txBody>
      </p:sp>
      <p:sp>
        <p:nvSpPr>
          <p:cNvPr id="103" name="Google Shape;103;g3e28c39a874_0_0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Preguntas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9250a17ee_1_85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Presentaci</a:t>
            </a:r>
            <a:r>
              <a:rPr lang="en-US"/>
              <a:t>ón de Estudiantes</a:t>
            </a:r>
            <a:endParaRPr/>
          </a:p>
        </p:txBody>
      </p:sp>
      <p:sp>
        <p:nvSpPr>
          <p:cNvPr id="109" name="Google Shape;109;g3d9250a17ee_1_85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¡</a:t>
            </a:r>
            <a:r>
              <a:rPr lang="en-US"/>
              <a:t>Conozcámonos un poco</a:t>
            </a:r>
            <a:r>
              <a:rPr lang="en-US"/>
              <a:t>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9250a17ee_1_95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Senso: Horarios de Calificaci</a:t>
            </a:r>
            <a:r>
              <a:rPr lang="en-US"/>
              <a:t>ón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9250a17ee_1_99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Programa del Curso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28c39a874_0_6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Evaluación de Conocimientos Actuales</a:t>
            </a:r>
            <a:endParaRPr/>
          </a:p>
        </p:txBody>
      </p:sp>
      <p:sp>
        <p:nvSpPr>
          <p:cNvPr id="125" name="Google Shape;125;g3e28c39a874_0_6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Preguntas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9250a17ee_1_107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Motivaciones para estudiar compiladores</a:t>
            </a:r>
            <a:endParaRPr/>
          </a:p>
        </p:txBody>
      </p:sp>
      <p:sp>
        <p:nvSpPr>
          <p:cNvPr id="131" name="Google Shape;131;g3d9250a17ee_1_107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Aprenderás a…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Integrar múltiples áreas de la Ciencias de la Computación en un solo sistema.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Razonar con precisión usando gramáticas y análisis formal.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Entender qué ocurre entre escribir código y su ejecución en máquina.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Aplicar estructuras de datos y algoritmos en problemas complejos.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Desarrollar intérpretes, editores y herramientas de análisis.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Sentar bases para áreas como la Inteligencia Artificial.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Comprender y diseñar lenguajes de programación.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g3d9250a17ee_1_107" title="pensativ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92225" y="5489825"/>
            <a:ext cx="7532248" cy="502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9250a17ee_1_112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Breve Historia del Compilador</a:t>
            </a:r>
            <a:endParaRPr/>
          </a:p>
        </p:txBody>
      </p:sp>
      <p:pic>
        <p:nvPicPr>
          <p:cNvPr id="138" name="Google Shape;138;g3d9250a17ee_1_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7211" y="2446900"/>
            <a:ext cx="12351625" cy="689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d9250a17ee_1_112" title="ide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59275" y="5498650"/>
            <a:ext cx="7182501" cy="478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9250a17ee_1_117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Estructura de un Compilador</a:t>
            </a:r>
            <a:endParaRPr/>
          </a:p>
        </p:txBody>
      </p:sp>
      <p:sp>
        <p:nvSpPr>
          <p:cNvPr id="145" name="Google Shape;145;g3d9250a17ee_1_117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Análisis Léxico							</a:t>
            </a:r>
            <a:r>
              <a:rPr lang="en-US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- Identificar palabras (tokens)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Análisis Sintáctico					</a:t>
            </a:r>
            <a:r>
              <a:rPr lang="en-US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- Identificar sentencias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Análisis Semántico					</a:t>
            </a:r>
            <a:r>
              <a:rPr lang="en-US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- Analizar </a:t>
            </a:r>
            <a:r>
              <a:rPr lang="en-US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sentido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Generación de Código				</a:t>
            </a:r>
            <a:r>
              <a:rPr lang="en-US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- Traducción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Optimización							</a:t>
            </a:r>
            <a:r>
              <a:rPr lang="en-US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- Edición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" name="Google Shape;146;g3d9250a17ee_1_117" title="pensativ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17700" y="4339350"/>
            <a:ext cx="9086477" cy="605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d9250a17ee_1_1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2975" y="5024423"/>
            <a:ext cx="6722599" cy="427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9250a17ee_1_150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Tarea de Repaso</a:t>
            </a:r>
            <a:endParaRPr/>
          </a:p>
        </p:txBody>
      </p:sp>
      <p:sp>
        <p:nvSpPr>
          <p:cNvPr id="153" name="Google Shape;153;g3d9250a17ee_1_150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Validemos conocimientos previos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"/>
          <p:cNvSpPr/>
          <p:nvPr/>
        </p:nvSpPr>
        <p:spPr>
          <a:xfrm>
            <a:off x="3861682" y="8119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