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Roboto ExtraLight"/>
      <p:regular r:id="rId22"/>
      <p:bold r:id="rId23"/>
      <p:italic r:id="rId24"/>
      <p:boldItalic r:id="rId25"/>
    </p:embeddedFont>
    <p:embeddedFont>
      <p:font typeface="Roboto"/>
      <p:regular r:id="rId26"/>
      <p:bold r:id="rId27"/>
      <p:italic r:id="rId28"/>
      <p:boldItalic r:id="rId29"/>
    </p:embeddedFont>
    <p:embeddedFont>
      <p:font typeface="Roboto Medium"/>
      <p:regular r:id="rId30"/>
      <p:bold r:id="rId31"/>
      <p:italic r:id="rId32"/>
      <p:boldItalic r:id="rId33"/>
    </p:embeddedFont>
    <p:embeddedFont>
      <p:font typeface="Roboto Light"/>
      <p:regular r:id="rId34"/>
      <p:bold r:id="rId35"/>
      <p:italic r:id="rId36"/>
      <p:boldItalic r:id="rId37"/>
    </p:embeddedFont>
    <p:embeddedFont>
      <p:font typeface="Open Sans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2" roundtripDataSignature="AMtx7minGozv5ksgjkzODAJImwtWO2hs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1EC52B2-4EC5-4F0F-A580-09D8030F5B40}">
  <a:tblStyle styleId="{11EC52B2-4EC5-4F0F-A580-09D8030F5B4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OpenSans-italic.fntdata"/><Relationship Id="rId20" Type="http://schemas.openxmlformats.org/officeDocument/2006/relationships/slide" Target="slides/slide14.xml"/><Relationship Id="rId42" Type="http://customschemas.google.com/relationships/presentationmetadata" Target="metadata"/><Relationship Id="rId41" Type="http://schemas.openxmlformats.org/officeDocument/2006/relationships/font" Target="fonts/OpenSans-boldItalic.fntdata"/><Relationship Id="rId22" Type="http://schemas.openxmlformats.org/officeDocument/2006/relationships/font" Target="fonts/RobotoExtraLight-regular.fntdata"/><Relationship Id="rId21" Type="http://schemas.openxmlformats.org/officeDocument/2006/relationships/slide" Target="slides/slide15.xml"/><Relationship Id="rId24" Type="http://schemas.openxmlformats.org/officeDocument/2006/relationships/font" Target="fonts/RobotoExtraLight-italic.fntdata"/><Relationship Id="rId23" Type="http://schemas.openxmlformats.org/officeDocument/2006/relationships/font" Target="fonts/RobotoExtraLigh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regular.fntdata"/><Relationship Id="rId25" Type="http://schemas.openxmlformats.org/officeDocument/2006/relationships/font" Target="fonts/RobotoExtraLight-boldItalic.fntdata"/><Relationship Id="rId28" Type="http://schemas.openxmlformats.org/officeDocument/2006/relationships/font" Target="fonts/Roboto-italic.fntdata"/><Relationship Id="rId27" Type="http://schemas.openxmlformats.org/officeDocument/2006/relationships/font" Target="fonts/Robo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edium-bold.fntdata"/><Relationship Id="rId30" Type="http://schemas.openxmlformats.org/officeDocument/2006/relationships/font" Target="fonts/RobotoMedium-regular.fntdata"/><Relationship Id="rId11" Type="http://schemas.openxmlformats.org/officeDocument/2006/relationships/slide" Target="slides/slide5.xml"/><Relationship Id="rId33" Type="http://schemas.openxmlformats.org/officeDocument/2006/relationships/font" Target="fonts/RobotoMedium-boldItalic.fntdata"/><Relationship Id="rId10" Type="http://schemas.openxmlformats.org/officeDocument/2006/relationships/slide" Target="slides/slide4.xml"/><Relationship Id="rId32" Type="http://schemas.openxmlformats.org/officeDocument/2006/relationships/font" Target="fonts/RobotoMedium-italic.fntdata"/><Relationship Id="rId13" Type="http://schemas.openxmlformats.org/officeDocument/2006/relationships/slide" Target="slides/slide7.xml"/><Relationship Id="rId35" Type="http://schemas.openxmlformats.org/officeDocument/2006/relationships/font" Target="fonts/RobotoLight-bold.fntdata"/><Relationship Id="rId12" Type="http://schemas.openxmlformats.org/officeDocument/2006/relationships/slide" Target="slides/slide6.xml"/><Relationship Id="rId34" Type="http://schemas.openxmlformats.org/officeDocument/2006/relationships/font" Target="fonts/RobotoLight-regular.fntdata"/><Relationship Id="rId15" Type="http://schemas.openxmlformats.org/officeDocument/2006/relationships/slide" Target="slides/slide9.xml"/><Relationship Id="rId37" Type="http://schemas.openxmlformats.org/officeDocument/2006/relationships/font" Target="fonts/RobotoLight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Light-italic.fntdata"/><Relationship Id="rId17" Type="http://schemas.openxmlformats.org/officeDocument/2006/relationships/slide" Target="slides/slide11.xml"/><Relationship Id="rId39" Type="http://schemas.openxmlformats.org/officeDocument/2006/relationships/font" Target="fonts/OpenSans-bold.fntdata"/><Relationship Id="rId16" Type="http://schemas.openxmlformats.org/officeDocument/2006/relationships/slide" Target="slides/slide10.xml"/><Relationship Id="rId38" Type="http://schemas.openxmlformats.org/officeDocument/2006/relationships/font" Target="fonts/OpenSans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0" name="Google Shape;70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1" name="Google Shape;8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9250a17ee_1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g3d9250a17ee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bdd0c1153_0_7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ebdd0c115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e28c39a87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g3e28c39a8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9250a17ee_1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g3d9250a17ee_1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d9250a17ee_1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d9250a17ee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9250a17ee_1_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" name="Google Shape;118;g3d9250a17ee_1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28c39a874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" name="Google Shape;123;g3e28c39a874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9250a17ee_1_10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d9250a17ee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9250a17ee_1_1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g3d9250a17ee_1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9250a17ee_1_1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g3d9250a17ee_1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9250a17ee_1_15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d9250a17ee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7" name="Google Shape;1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0"/>
          <p:cNvSpPr/>
          <p:nvPr/>
        </p:nvSpPr>
        <p:spPr>
          <a:xfrm>
            <a:off x="733800" y="1237675"/>
            <a:ext cx="7913100" cy="1761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0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/>
          <p:nvPr/>
        </p:nvSpPr>
        <p:spPr>
          <a:xfrm>
            <a:off x="733800" y="3076975"/>
            <a:ext cx="7913100" cy="6321300"/>
          </a:xfrm>
          <a:prstGeom prst="snip1Rect">
            <a:avLst>
              <a:gd fmla="val 16667" name="adj"/>
            </a:avLst>
          </a:prstGeom>
          <a:solidFill>
            <a:srgbClr val="F3F3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0"/>
          <p:cNvSpPr txBox="1"/>
          <p:nvPr>
            <p:ph idx="1" type="body"/>
          </p:nvPr>
        </p:nvSpPr>
        <p:spPr>
          <a:xfrm>
            <a:off x="685800" y="3076975"/>
            <a:ext cx="8009100" cy="6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Roboto Medium"/>
              <a:buNone/>
              <a:defRPr sz="2500">
                <a:solidFill>
                  <a:srgbClr val="888888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2300"/>
              <a:buFont typeface="Roboto"/>
              <a:buNone/>
              <a:defRPr sz="2300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2100"/>
              <a:buFont typeface="Roboto Light"/>
              <a:buNone/>
              <a:defRPr sz="2100">
                <a:solidFill>
                  <a:srgbClr val="888888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900"/>
              <a:buFont typeface="Roboto ExtraLight"/>
              <a:buNone/>
              <a:defRPr sz="1900">
                <a:solidFill>
                  <a:srgbClr val="888888"/>
                </a:solidFill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/>
          <p:nvPr/>
        </p:nvSpPr>
        <p:spPr>
          <a:xfrm>
            <a:off x="681150" y="2919538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8"/>
          <p:cNvSpPr txBox="1"/>
          <p:nvPr>
            <p:ph idx="11" type="ftr"/>
          </p:nvPr>
        </p:nvSpPr>
        <p:spPr>
          <a:xfrm>
            <a:off x="3146250" y="5757238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2" type="sldNum"/>
          </p:nvPr>
        </p:nvSpPr>
        <p:spPr>
          <a:xfrm>
            <a:off x="6575250" y="5757238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" name="Google Shape;25;p18"/>
          <p:cNvSpPr/>
          <p:nvPr/>
        </p:nvSpPr>
        <p:spPr>
          <a:xfrm rot="10800000">
            <a:off x="2786850" y="5903763"/>
            <a:ext cx="12758400" cy="1463700"/>
          </a:xfrm>
          <a:prstGeom prst="snip2SameRect">
            <a:avLst>
              <a:gd fmla="val 16667" name="adj1"/>
              <a:gd fmla="val 0" name="adj2"/>
            </a:avLst>
          </a:prstGeom>
          <a:solidFill>
            <a:srgbClr val="9E9E9E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8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4500"/>
              <a:buFont typeface="Roboto"/>
              <a:buNone/>
              <a:defRPr sz="4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692175" y="3242525"/>
            <a:ext cx="17127600" cy="29841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3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5900"/>
              <a:buFont typeface="Roboto"/>
              <a:buNone/>
              <a:defRPr b="1" sz="8500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idx="11" type="ftr"/>
          </p:nvPr>
        </p:nvSpPr>
        <p:spPr>
          <a:xfrm>
            <a:off x="3025875" y="676130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2" type="sldNum"/>
          </p:nvPr>
        </p:nvSpPr>
        <p:spPr>
          <a:xfrm>
            <a:off x="6454875" y="676130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" name="Google Shape;34;p19"/>
          <p:cNvSpPr/>
          <p:nvPr/>
        </p:nvSpPr>
        <p:spPr>
          <a:xfrm>
            <a:off x="1148475" y="72220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9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" name="Google Shape;42;p21"/>
          <p:cNvSpPr/>
          <p:nvPr/>
        </p:nvSpPr>
        <p:spPr>
          <a:xfrm>
            <a:off x="1148475" y="756850"/>
            <a:ext cx="15991200" cy="13509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1148325" y="75685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Font typeface="Roboto"/>
              <a:buNone/>
              <a:defRPr b="1" sz="5500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2" type="ftr"/>
          </p:nvPr>
        </p:nvSpPr>
        <p:spPr>
          <a:xfrm>
            <a:off x="2033490" y="6761300"/>
            <a:ext cx="13650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3" type="sldNum"/>
          </p:nvPr>
        </p:nvSpPr>
        <p:spPr>
          <a:xfrm>
            <a:off x="3649936" y="6761300"/>
            <a:ext cx="1005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21"/>
          <p:cNvSpPr/>
          <p:nvPr/>
        </p:nvSpPr>
        <p:spPr>
          <a:xfrm>
            <a:off x="1148475" y="2285600"/>
            <a:ext cx="15991200" cy="7279200"/>
          </a:xfrm>
          <a:prstGeom prst="snip1Rect">
            <a:avLst>
              <a:gd fmla="val 16667" name="adj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1"/>
          <p:cNvSpPr txBox="1"/>
          <p:nvPr>
            <p:ph idx="1" type="body"/>
          </p:nvPr>
        </p:nvSpPr>
        <p:spPr>
          <a:xfrm>
            <a:off x="1148475" y="2307500"/>
            <a:ext cx="7538400" cy="72354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9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48" name="Google Shape;48;p21"/>
          <p:cNvSpPr txBox="1"/>
          <p:nvPr>
            <p:ph idx="4" type="sldNum"/>
          </p:nvPr>
        </p:nvSpPr>
        <p:spPr>
          <a:xfrm>
            <a:off x="11491720" y="6783200"/>
            <a:ext cx="11277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" name="Google Shape;49;p21"/>
          <p:cNvSpPr txBox="1"/>
          <p:nvPr>
            <p:ph idx="5" type="body"/>
          </p:nvPr>
        </p:nvSpPr>
        <p:spPr>
          <a:xfrm>
            <a:off x="8686800" y="2285600"/>
            <a:ext cx="8452800" cy="7279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9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/>
          <p:nvPr/>
        </p:nvSpPr>
        <p:spPr>
          <a:xfrm>
            <a:off x="4951829" y="4789363"/>
            <a:ext cx="8384400" cy="7083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7950" lIns="47950" spcFirstLastPara="1" rIns="47950" wrap="square" tIns="479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34"/>
              <a:buFont typeface="Arial"/>
              <a:buNone/>
            </a:pPr>
            <a:r>
              <a:t/>
            </a:r>
            <a:endParaRPr b="0" i="0" sz="73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2"/>
          <p:cNvSpPr txBox="1"/>
          <p:nvPr>
            <p:ph type="title"/>
          </p:nvPr>
        </p:nvSpPr>
        <p:spPr>
          <a:xfrm>
            <a:off x="4951750" y="4789363"/>
            <a:ext cx="8384400" cy="70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3950" lIns="47950" spcFirstLastPara="1" rIns="47950" wrap="square" tIns="239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21"/>
              <a:buFont typeface="Roboto"/>
              <a:buNone/>
              <a:defRPr b="1" sz="2884">
                <a:latin typeface="Roboto"/>
                <a:ea typeface="Roboto"/>
                <a:cs typeface="Roboto"/>
                <a:sym typeface="Roboto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34"/>
              <a:buNone/>
              <a:defRPr sz="944"/>
            </a:lvl9pPr>
          </a:lstStyle>
          <a:p/>
        </p:txBody>
      </p:sp>
      <p:sp>
        <p:nvSpPr>
          <p:cNvPr id="53" name="Google Shape;53;p22"/>
          <p:cNvSpPr/>
          <p:nvPr/>
        </p:nvSpPr>
        <p:spPr>
          <a:xfrm>
            <a:off x="759600" y="378650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759600" y="378650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9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5" name="Google Shape;55;p22"/>
          <p:cNvSpPr/>
          <p:nvPr/>
        </p:nvSpPr>
        <p:spPr>
          <a:xfrm>
            <a:off x="9144000" y="378650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2"/>
          <p:cNvSpPr txBox="1"/>
          <p:nvPr>
            <p:ph idx="2" type="body"/>
          </p:nvPr>
        </p:nvSpPr>
        <p:spPr>
          <a:xfrm>
            <a:off x="9143917" y="378622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9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7" name="Google Shape;57;p22"/>
          <p:cNvSpPr/>
          <p:nvPr/>
        </p:nvSpPr>
        <p:spPr>
          <a:xfrm>
            <a:off x="759600" y="5596175"/>
            <a:ext cx="8384400" cy="4312200"/>
          </a:xfrm>
          <a:prstGeom prst="snip2DiagRect">
            <a:avLst>
              <a:gd fmla="val 0" name="adj1"/>
              <a:gd fmla="val 16667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2"/>
          <p:cNvSpPr txBox="1"/>
          <p:nvPr>
            <p:ph idx="3" type="body"/>
          </p:nvPr>
        </p:nvSpPr>
        <p:spPr>
          <a:xfrm>
            <a:off x="759600" y="5596175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9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  <p:sp>
        <p:nvSpPr>
          <p:cNvPr id="59" name="Google Shape;59;p22"/>
          <p:cNvSpPr/>
          <p:nvPr/>
        </p:nvSpPr>
        <p:spPr>
          <a:xfrm>
            <a:off x="9144000" y="5596175"/>
            <a:ext cx="8384400" cy="4312200"/>
          </a:xfrm>
          <a:prstGeom prst="snip2DiagRect">
            <a:avLst>
              <a:gd fmla="val 16009" name="adj1"/>
              <a:gd fmla="val 0" name="adj2"/>
            </a:avLst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2"/>
          <p:cNvSpPr txBox="1"/>
          <p:nvPr>
            <p:ph idx="4" type="body"/>
          </p:nvPr>
        </p:nvSpPr>
        <p:spPr>
          <a:xfrm>
            <a:off x="9143917" y="5596147"/>
            <a:ext cx="8384400" cy="4312200"/>
          </a:xfrm>
          <a:prstGeom prst="rect">
            <a:avLst/>
          </a:prstGeom>
          <a:solidFill>
            <a:srgbClr val="394C60">
              <a:alpha val="779"/>
            </a:srgbClr>
          </a:solidFill>
          <a:ln>
            <a:noFill/>
          </a:ln>
          <a:effectLst>
            <a:outerShdw blurRad="71438" rotWithShape="0" algn="bl" dir="5400000" dist="47625">
              <a:srgbClr val="000000">
                <a:alpha val="50199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Char char="•"/>
              <a:defRPr>
                <a:latin typeface="Roboto Medium"/>
                <a:ea typeface="Roboto Medium"/>
                <a:cs typeface="Roboto Medium"/>
                <a:sym typeface="Roboto Medium"/>
              </a:defRPr>
            </a:lvl1pPr>
            <a:lvl2pPr indent="-342900" lvl="1" marL="914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–"/>
              <a:defRPr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–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4pPr>
            <a:lvl5pPr indent="-342900" lvl="4" marL="22860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»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5pPr>
            <a:lvl6pPr indent="-342900" lvl="5" marL="2743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6pPr>
            <a:lvl7pPr indent="-342900" lvl="6" marL="32004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7pPr>
            <a:lvl8pPr indent="-342900" lvl="7" marL="3657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8pPr>
            <a:lvl9pPr indent="-342900" lvl="8" marL="41148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ExtraLight"/>
              <a:buChar char="•"/>
              <a:defRPr>
                <a:latin typeface="Roboto ExtraLight"/>
                <a:ea typeface="Roboto ExtraLight"/>
                <a:cs typeface="Roboto ExtraLight"/>
                <a:sym typeface="Roboto Extra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/>
          <p:nvPr/>
        </p:nvSpPr>
        <p:spPr>
          <a:xfrm>
            <a:off x="3351000" y="7415650"/>
            <a:ext cx="11586000" cy="12297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6400788" y="30265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25"/>
          <p:cNvSpPr txBox="1"/>
          <p:nvPr>
            <p:ph type="title"/>
          </p:nvPr>
        </p:nvSpPr>
        <p:spPr>
          <a:xfrm>
            <a:off x="3351150" y="7693000"/>
            <a:ext cx="115860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Roboto"/>
              <a:buNone/>
              <a:defRPr b="1" sz="4000">
                <a:latin typeface="Roboto"/>
                <a:ea typeface="Roboto"/>
                <a:cs typeface="Roboto"/>
                <a:sym typeface="Robo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" name="Google Shape;11;p16" title="Fondo.png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8278300" cy="10287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create.kahoot.it/share/prev-olc2-2s2026/10699fd8-81a6-4157-ad5c-2ec142993205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create.kahoot.it/share/olc2-2s2026/592ccb73-dda1-4e65-b447-a78fba2cd796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/>
          <p:nvPr/>
        </p:nvSpPr>
        <p:spPr>
          <a:xfrm>
            <a:off x="75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3" name="Google Shape;73;p1"/>
          <p:cNvSpPr txBox="1"/>
          <p:nvPr/>
        </p:nvSpPr>
        <p:spPr>
          <a:xfrm>
            <a:off x="5792625" y="6745502"/>
            <a:ext cx="67029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Ingeniería de Ciencias Y Sistemas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3995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"/>
          <p:cNvSpPr txBox="1"/>
          <p:nvPr/>
        </p:nvSpPr>
        <p:spPr>
          <a:xfrm>
            <a:off x="348639" y="9201150"/>
            <a:ext cx="4067100" cy="11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rPr b="1" lang="en-US" sz="3140">
                <a:latin typeface="Open Sans"/>
                <a:ea typeface="Open Sans"/>
                <a:cs typeface="Open Sans"/>
                <a:sym typeface="Open Sans"/>
              </a:rPr>
              <a:t>Diego Dubón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40"/>
              <a:buFont typeface="Arial"/>
              <a:buNone/>
            </a:pPr>
            <a:r>
              <a:t/>
            </a:r>
            <a:endParaRPr b="1" i="0" sz="314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5" name="Google Shape;75;p1"/>
          <p:cNvSpPr/>
          <p:nvPr/>
        </p:nvSpPr>
        <p:spPr>
          <a:xfrm rot="10800000">
            <a:off x="2408175" y="3610650"/>
            <a:ext cx="13471800" cy="3065700"/>
          </a:xfrm>
          <a:prstGeom prst="snip2SameRect">
            <a:avLst>
              <a:gd fmla="val 16667" name="adj1"/>
              <a:gd fmla="val 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"/>
          <p:cNvSpPr txBox="1"/>
          <p:nvPr/>
        </p:nvSpPr>
        <p:spPr>
          <a:xfrm>
            <a:off x="2829375" y="4820250"/>
            <a:ext cx="12629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</a:pPr>
            <a:r>
              <a:rPr b="1" i="0" lang="en-US" sz="42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Organización de Lenguajes y Compiladores 2</a:t>
            </a:r>
            <a:endParaRPr b="1" i="0" sz="4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77" name="Google Shape;77;p1"/>
          <p:cNvGraphicFramePr/>
          <p:nvPr/>
        </p:nvGraphicFramePr>
        <p:xfrm>
          <a:off x="11810375" y="2347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{11EC52B2-4EC5-4F0F-A580-09D8030F5B40}</a:tableStyleId>
              </a:tblPr>
              <a:tblGrid>
                <a:gridCol w="1225625"/>
                <a:gridCol w="4074875"/>
              </a:tblGrid>
              <a:tr h="54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 u="none" cap="none" strike="noStrike"/>
                        <a:t>Fecha</a:t>
                      </a:r>
                      <a:endParaRPr b="1" sz="2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/>
                        <a:t>14</a:t>
                      </a:r>
                      <a:r>
                        <a:rPr lang="en-US" sz="2500" u="none" cap="none" strike="noStrike"/>
                        <a:t>/</a:t>
                      </a:r>
                      <a:r>
                        <a:rPr lang="en-US" sz="2500"/>
                        <a:t>07</a:t>
                      </a:r>
                      <a:r>
                        <a:rPr lang="en-US" sz="2500" u="none" cap="none" strike="noStrike"/>
                        <a:t>/2026</a:t>
                      </a:r>
                      <a:endParaRPr sz="25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78" name="Google Shape;78;p1"/>
          <p:cNvGraphicFramePr/>
          <p:nvPr/>
        </p:nvGraphicFramePr>
        <p:xfrm>
          <a:off x="12006275" y="737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{11EC52B2-4EC5-4F0F-A580-09D8030F5B40}</a:tableStyleId>
              </a:tblPr>
              <a:tblGrid>
                <a:gridCol w="1225625"/>
                <a:gridCol w="4074875"/>
              </a:tblGrid>
              <a:tr h="549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b="1" lang="en-US" sz="2500"/>
                        <a:t>Hora Inicio</a:t>
                      </a:r>
                      <a:endParaRPr b="1" sz="25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500"/>
                        <a:buFont typeface="Arial"/>
                        <a:buNone/>
                      </a:pPr>
                      <a:r>
                        <a:rPr lang="en-US" sz="2500"/>
                        <a:t>17:20</a:t>
                      </a:r>
                      <a:endParaRPr sz="25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/>
          <p:nvPr/>
        </p:nvSpPr>
        <p:spPr>
          <a:xfrm>
            <a:off x="0" y="0"/>
            <a:ext cx="18288000" cy="10297287"/>
          </a:xfrm>
          <a:custGeom>
            <a:rect b="b" l="l" r="r" t="t"/>
            <a:pathLst>
              <a:path extrusionOk="0" h="10401300" w="18288000">
                <a:moveTo>
                  <a:pt x="0" y="0"/>
                </a:moveTo>
                <a:lnTo>
                  <a:pt x="18288000" y="0"/>
                </a:lnTo>
                <a:lnTo>
                  <a:pt x="18288000" y="10401300"/>
                </a:lnTo>
                <a:lnTo>
                  <a:pt x="0" y="104013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4" name="Google Shape;84;p2"/>
          <p:cNvSpPr txBox="1"/>
          <p:nvPr/>
        </p:nvSpPr>
        <p:spPr>
          <a:xfrm>
            <a:off x="3102001" y="4466250"/>
            <a:ext cx="120840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b="1" i="0" lang="en-US" sz="8799" u="none" cap="none" strike="noStrike">
                <a:solidFill>
                  <a:srgbClr val="1A1A1A"/>
                </a:solidFill>
                <a:latin typeface="Roboto"/>
                <a:ea typeface="Roboto"/>
                <a:cs typeface="Roboto"/>
                <a:sym typeface="Roboto"/>
              </a:rPr>
              <a:t>Semana de Diagnóstico</a:t>
            </a:r>
            <a:endParaRPr b="1" i="0" sz="8799" u="none" cap="none" strike="noStrike">
              <a:solidFill>
                <a:srgbClr val="1A1A1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d9250a17ee_1_47"/>
          <p:cNvSpPr txBox="1"/>
          <p:nvPr>
            <p:ph type="title"/>
          </p:nvPr>
        </p:nvSpPr>
        <p:spPr>
          <a:xfrm>
            <a:off x="685800" y="1237675"/>
            <a:ext cx="8009100" cy="176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90" name="Google Shape;90;g3d9250a17ee_1_47"/>
          <p:cNvSpPr txBox="1"/>
          <p:nvPr>
            <p:ph idx="1" type="body"/>
          </p:nvPr>
        </p:nvSpPr>
        <p:spPr>
          <a:xfrm>
            <a:off x="823450" y="3097300"/>
            <a:ext cx="8009100" cy="6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400"/>
              </a:spcBef>
              <a:spcAft>
                <a:spcPts val="0"/>
              </a:spcAft>
              <a:buClr>
                <a:srgbClr val="1A1A1A"/>
              </a:buClr>
              <a:buSzPts val="2500"/>
              <a:buAutoNum type="arabicPeriod"/>
            </a:pPr>
            <a:r>
              <a:rPr lang="en-US">
                <a:solidFill>
                  <a:srgbClr val="1A1A1A"/>
                </a:solidFill>
              </a:rPr>
              <a:t>Bienvenida y Presentación</a:t>
            </a:r>
            <a:endParaRPr>
              <a:solidFill>
                <a:srgbClr val="1A1A1A"/>
              </a:solidFill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AutoNum type="arabicPeriod"/>
            </a:pPr>
            <a:r>
              <a:rPr lang="en-US">
                <a:solidFill>
                  <a:srgbClr val="1A1A1A"/>
                </a:solidFill>
              </a:rPr>
              <a:t>Evaluación de Conocimientos Previos</a:t>
            </a:r>
            <a:endParaRPr>
              <a:solidFill>
                <a:srgbClr val="1A1A1A"/>
              </a:solidFill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AutoNum type="arabicPeriod"/>
            </a:pPr>
            <a:r>
              <a:rPr lang="en-US">
                <a:solidFill>
                  <a:srgbClr val="1A1A1A"/>
                </a:solidFill>
              </a:rPr>
              <a:t>Presentación de Estudiantes</a:t>
            </a:r>
            <a:endParaRPr>
              <a:solidFill>
                <a:srgbClr val="1A1A1A"/>
              </a:solidFill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AutoNum type="arabicPeriod"/>
            </a:pPr>
            <a:r>
              <a:rPr lang="en-US">
                <a:solidFill>
                  <a:srgbClr val="1A1A1A"/>
                </a:solidFill>
              </a:rPr>
              <a:t>Censo</a:t>
            </a:r>
            <a:r>
              <a:rPr lang="en-US">
                <a:solidFill>
                  <a:srgbClr val="1A1A1A"/>
                </a:solidFill>
              </a:rPr>
              <a:t> de Horarios de Calificación</a:t>
            </a:r>
            <a:endParaRPr>
              <a:solidFill>
                <a:srgbClr val="1A1A1A"/>
              </a:solidFill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AutoNum type="arabicPeriod"/>
            </a:pPr>
            <a:r>
              <a:rPr lang="en-US">
                <a:solidFill>
                  <a:srgbClr val="1A1A1A"/>
                </a:solidFill>
              </a:rPr>
              <a:t>Programa del Curso</a:t>
            </a:r>
            <a:endParaRPr>
              <a:solidFill>
                <a:srgbClr val="1A1A1A"/>
              </a:solidFill>
            </a:endParaRPr>
          </a:p>
          <a:p>
            <a:pPr indent="-3873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500"/>
              <a:buAutoNum type="arabicPeriod"/>
            </a:pPr>
            <a:r>
              <a:rPr lang="en-US">
                <a:solidFill>
                  <a:srgbClr val="1A1A1A"/>
                </a:solidFill>
              </a:rPr>
              <a:t>Evaluación de Conocimientos del Curso Actual</a:t>
            </a:r>
            <a:endParaRPr>
              <a:solidFill>
                <a:srgbClr val="1A1A1A"/>
              </a:solidFill>
            </a:endParaRPr>
          </a:p>
        </p:txBody>
      </p:sp>
      <p:pic>
        <p:nvPicPr>
          <p:cNvPr id="91" name="Google Shape;91;g3d9250a17ee_1_47" title="icon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94900" y="407875"/>
            <a:ext cx="9288300" cy="928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bdd0c1153_0_79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Presentación del Tutor</a:t>
            </a:r>
            <a:endParaRPr/>
          </a:p>
        </p:txBody>
      </p:sp>
      <p:sp>
        <p:nvSpPr>
          <p:cNvPr id="97" name="Google Shape;97;g3ebdd0c1153_0_79"/>
          <p:cNvSpPr txBox="1"/>
          <p:nvPr>
            <p:ph idx="4294967295" type="body"/>
          </p:nvPr>
        </p:nvSpPr>
        <p:spPr>
          <a:xfrm>
            <a:off x="5634500" y="6307075"/>
            <a:ext cx="74910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</a:rPr>
              <a:t>3585618840101@ingenieria.usac.edu.gt</a:t>
            </a:r>
            <a:endParaRPr>
              <a:solidFill>
                <a:schemeClr val="lt1"/>
              </a:solidFill>
            </a:endParaRPr>
          </a:p>
          <a:p>
            <a:pPr indent="0" lvl="0" marL="457200" rtl="0" algn="r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98" name="Google Shape;98;g3ebdd0c1153_0_79"/>
          <p:cNvPicPr preferRelativeResize="0"/>
          <p:nvPr/>
        </p:nvPicPr>
        <p:blipFill rotWithShape="1">
          <a:blip r:embed="rId3">
            <a:alphaModFix/>
          </a:blip>
          <a:srcRect b="30250" l="20190" r="20740" t="31900"/>
          <a:stretch/>
        </p:blipFill>
        <p:spPr>
          <a:xfrm>
            <a:off x="5083850" y="6307050"/>
            <a:ext cx="1081600" cy="69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28c39a874_0_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Evaluación de Conocimientos Previos</a:t>
            </a:r>
            <a:endParaRPr/>
          </a:p>
        </p:txBody>
      </p:sp>
      <p:sp>
        <p:nvSpPr>
          <p:cNvPr id="104" name="Google Shape;104;g3e28c39a874_0_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d9250a17ee_1_85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Presentación de Estudiantes</a:t>
            </a:r>
            <a:endParaRPr/>
          </a:p>
        </p:txBody>
      </p:sp>
      <p:sp>
        <p:nvSpPr>
          <p:cNvPr id="110" name="Google Shape;110;g3d9250a17ee_1_85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/>
              <a:t>¡Conozcámonos un poco!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d9250a17ee_1_95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Censo: Horarios de Calificación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d9250a17ee_1_99"/>
          <p:cNvSpPr txBox="1"/>
          <p:nvPr>
            <p:ph type="ctrTitle"/>
          </p:nvPr>
        </p:nvSpPr>
        <p:spPr>
          <a:xfrm>
            <a:off x="692175" y="3242525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Programa del Curso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e28c39a874_0_6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Evaluación de Conocimientos Actuales</a:t>
            </a:r>
            <a:endParaRPr/>
          </a:p>
        </p:txBody>
      </p:sp>
      <p:sp>
        <p:nvSpPr>
          <p:cNvPr id="126" name="Google Shape;126;g3e28c39a874_0_6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Preguntas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9250a17ee_1_10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Motivaciones para estudiar compiladores</a:t>
            </a:r>
            <a:endParaRPr/>
          </a:p>
        </p:txBody>
      </p:sp>
      <p:sp>
        <p:nvSpPr>
          <p:cNvPr id="132" name="Google Shape;132;g3d9250a17ee_1_10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rPr b="1" lang="en-US">
                <a:latin typeface="Roboto"/>
                <a:ea typeface="Roboto"/>
                <a:cs typeface="Roboto"/>
                <a:sym typeface="Roboto"/>
              </a:rPr>
              <a:t>Aprenderás a…</a:t>
            </a:r>
            <a:endParaRPr b="1"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Integrar múltiples áreas de la Ciencias de la Computación en un solo sistema.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Razonar con precisión usando gramáticas y análisis formal.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Entender qué ocurre entre escribir código y su ejecución en máquina.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Aplicar estructuras de datos y algoritmos en problemas complejos.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Desarrollar intérpretes, editores y herramientas de análisis.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Sentar bases para áreas como la Inteligencia Artificial.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Roboto"/>
              <a:buChar char="●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Comprender y diseñar lenguajes de programación.</a:t>
            </a:r>
            <a:endParaRPr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133" name="Google Shape;133;g3d9250a17ee_1_107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92225" y="5489825"/>
            <a:ext cx="7532248" cy="502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9250a17ee_1_112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Breve Historia del Compilador</a:t>
            </a:r>
            <a:endParaRPr/>
          </a:p>
        </p:txBody>
      </p:sp>
      <p:pic>
        <p:nvPicPr>
          <p:cNvPr id="139" name="Google Shape;139;g3d9250a17ee_1_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325" y="2324750"/>
            <a:ext cx="12958874" cy="72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d9250a17ee_1_112" title="idea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59275" y="5498650"/>
            <a:ext cx="7182501" cy="4788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d9250a17ee_1_117"/>
          <p:cNvSpPr txBox="1"/>
          <p:nvPr>
            <p:ph type="title"/>
          </p:nvPr>
        </p:nvSpPr>
        <p:spPr>
          <a:xfrm>
            <a:off x="1148325" y="722200"/>
            <a:ext cx="15991200" cy="1350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rPr lang="en-US"/>
              <a:t>Estructura de un Compilador</a:t>
            </a:r>
            <a:endParaRPr/>
          </a:p>
        </p:txBody>
      </p:sp>
      <p:sp>
        <p:nvSpPr>
          <p:cNvPr id="146" name="Google Shape;146;g3d9250a17ee_1_117"/>
          <p:cNvSpPr txBox="1"/>
          <p:nvPr>
            <p:ph idx="1" type="body"/>
          </p:nvPr>
        </p:nvSpPr>
        <p:spPr>
          <a:xfrm>
            <a:off x="1148475" y="2307500"/>
            <a:ext cx="15991200" cy="7235400"/>
          </a:xfrm>
          <a:prstGeom prst="rect">
            <a:avLst/>
          </a:prstGeom>
          <a:solidFill>
            <a:srgbClr val="394C60">
              <a:alpha val="784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Léxico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palabras (tokens)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Sintáctico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Identificar sentencias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Análisis Semántico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Analizar sentido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Generación de Código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Traducción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lang="en-US">
                <a:latin typeface="Roboto"/>
                <a:ea typeface="Roboto"/>
                <a:cs typeface="Roboto"/>
                <a:sym typeface="Roboto"/>
              </a:rPr>
              <a:t>Optimización							</a:t>
            </a:r>
            <a:r>
              <a:rPr lang="en-US">
                <a:solidFill>
                  <a:srgbClr val="0000FF"/>
                </a:solidFill>
                <a:latin typeface="Roboto"/>
                <a:ea typeface="Roboto"/>
                <a:cs typeface="Roboto"/>
                <a:sym typeface="Roboto"/>
              </a:rPr>
              <a:t>- Edición</a:t>
            </a:r>
            <a:endParaRPr>
              <a:solidFill>
                <a:srgbClr val="0000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7" name="Google Shape;147;g3d9250a17ee_1_117" title="pensativ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17700" y="4339350"/>
            <a:ext cx="9086477" cy="6057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g3d9250a17ee_1_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12975" y="5024423"/>
            <a:ext cx="6722599" cy="427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9250a17ee_1_150"/>
          <p:cNvSpPr txBox="1"/>
          <p:nvPr>
            <p:ph type="ctrTitle"/>
          </p:nvPr>
        </p:nvSpPr>
        <p:spPr>
          <a:xfrm>
            <a:off x="681150" y="2919538"/>
            <a:ext cx="17127600" cy="29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900"/>
              <a:buNone/>
            </a:pPr>
            <a:r>
              <a:rPr lang="en-US"/>
              <a:t>Tarea de Repaso</a:t>
            </a:r>
            <a:endParaRPr/>
          </a:p>
        </p:txBody>
      </p:sp>
      <p:sp>
        <p:nvSpPr>
          <p:cNvPr id="154" name="Google Shape;154;g3d9250a17ee_1_150"/>
          <p:cNvSpPr txBox="1"/>
          <p:nvPr>
            <p:ph idx="1" type="subTitle"/>
          </p:nvPr>
        </p:nvSpPr>
        <p:spPr>
          <a:xfrm>
            <a:off x="2787000" y="5903763"/>
            <a:ext cx="12758400" cy="146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4500"/>
              <a:buNone/>
            </a:pPr>
            <a:r>
              <a:rPr lang="en-US"/>
              <a:t>Validemos conocimientos previos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"/>
          <p:cNvSpPr/>
          <p:nvPr/>
        </p:nvSpPr>
        <p:spPr>
          <a:xfrm>
            <a:off x="3861682" y="811998"/>
            <a:ext cx="10564636" cy="8663002"/>
          </a:xfrm>
          <a:custGeom>
            <a:rect b="b" l="l" r="r" t="t"/>
            <a:pathLst>
              <a:path extrusionOk="0" h="8663002" w="10564636">
                <a:moveTo>
                  <a:pt x="0" y="0"/>
                </a:moveTo>
                <a:lnTo>
                  <a:pt x="10564636" y="0"/>
                </a:lnTo>
                <a:lnTo>
                  <a:pt x="10564636" y="8663002"/>
                </a:lnTo>
                <a:lnTo>
                  <a:pt x="0" y="8663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5"/>
          <p:cNvSpPr/>
          <p:nvPr/>
        </p:nvSpPr>
        <p:spPr>
          <a:xfrm>
            <a:off x="814445" y="0"/>
            <a:ext cx="16659109" cy="10287000"/>
          </a:xfrm>
          <a:custGeom>
            <a:rect b="b" l="l" r="r" t="t"/>
            <a:pathLst>
              <a:path extrusionOk="0" h="10287000" w="16659109">
                <a:moveTo>
                  <a:pt x="0" y="0"/>
                </a:moveTo>
                <a:lnTo>
                  <a:pt x="16659110" y="0"/>
                </a:lnTo>
                <a:lnTo>
                  <a:pt x="1665911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