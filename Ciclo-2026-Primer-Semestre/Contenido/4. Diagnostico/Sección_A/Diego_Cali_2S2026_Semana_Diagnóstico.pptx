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embeddedFontLst>
    <p:embeddedFont>
      <p:font typeface="Roboto ExtraLight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gMknWabhADCgcxf5SBi/HzlOZQ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BD24CB-9143-4B51-9691-43C62AA6A0E0}">
  <a:tblStyle styleId="{37BD24CB-9143-4B51-9691-43C62AA6A0E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4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font" Target="fonts/RobotoExtraLight-bold.fntdata"/><Relationship Id="rId23" Type="http://schemas.openxmlformats.org/officeDocument/2006/relationships/font" Target="fonts/RobotoExtra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boldItalic.fntdata"/><Relationship Id="rId25" Type="http://schemas.openxmlformats.org/officeDocument/2006/relationships/font" Target="fonts/RobotoExtraLight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7.xml"/><Relationship Id="rId35" Type="http://schemas.openxmlformats.org/officeDocument/2006/relationships/font" Target="fonts/RobotoLight-regular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RobotoLight-italic.fntdata"/><Relationship Id="rId14" Type="http://schemas.openxmlformats.org/officeDocument/2006/relationships/slide" Target="slides/slide8.xml"/><Relationship Id="rId36" Type="http://schemas.openxmlformats.org/officeDocument/2006/relationships/font" Target="fonts/RobotoLight-bold.fntdata"/><Relationship Id="rId17" Type="http://schemas.openxmlformats.org/officeDocument/2006/relationships/slide" Target="slides/slide11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0.xml"/><Relationship Id="rId38" Type="http://schemas.openxmlformats.org/officeDocument/2006/relationships/font" Target="fonts/Roboto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250a17ee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9250a17ee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250a17ee_1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d9250a17ee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28c39a87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e28c39a8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250a17ee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9250a17ee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a4c42f7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3a4c42f7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250a17ee_1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d9250a17ee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9250a17ee_1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9250a17ee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28c39a87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e28c39a8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9250a17ee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9250a17e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250a17ee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d9250a17ee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9250a17ee_1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9250a17ee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9250a17ee_1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9250a17ee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0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8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8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9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9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1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1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48" name="Google Shape;48;p21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21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p2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p2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p2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p2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25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6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reate.kahoot.it/share/prev-olc2-2s2026/10699fd8-81a6-4157-ad5c-2ec14299320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reate.kahoot.it/share/olc2-2s2026/592ccb73-dda1-4e65-b447-a78fba2cd796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 txBox="1"/>
          <p:nvPr/>
        </p:nvSpPr>
        <p:spPr>
          <a:xfrm>
            <a:off x="5792625" y="674550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348658" y="9201150"/>
            <a:ext cx="69405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Tutor: Diego Felipe Cali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/>
          <p:nvPr/>
        </p:nvSpPr>
        <p:spPr>
          <a:xfrm rot="10800000">
            <a:off x="2408175" y="3610650"/>
            <a:ext cx="13471800" cy="30657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829375" y="4820250"/>
            <a:ext cx="1262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1810375" y="234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{37BD24CB-9143-4B51-9691-43C62AA6A0E0}</a:tableStyleId>
              </a:tblPr>
              <a:tblGrid>
                <a:gridCol w="1225625"/>
                <a:gridCol w="4074875"/>
              </a:tblGrid>
              <a:tr h="54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/>
                        <a:t>Fecha</a:t>
                      </a:r>
                      <a:endParaRPr b="1" sz="2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/>
                        <a:t>14</a:t>
                      </a:r>
                      <a:r>
                        <a:rPr lang="en-US" sz="2500" u="none" cap="none" strike="noStrike"/>
                        <a:t>/</a:t>
                      </a:r>
                      <a:r>
                        <a:rPr lang="en-US" sz="2500"/>
                        <a:t>07</a:t>
                      </a:r>
                      <a:r>
                        <a:rPr lang="en-US" sz="2500" u="none" cap="none" strike="noStrike"/>
                        <a:t>/2026</a:t>
                      </a:r>
                      <a:endParaRPr sz="25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3102001" y="4466250"/>
            <a:ext cx="12084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Semana de Diagnóstico</a:t>
            </a:r>
            <a:endParaRPr b="1" i="0" sz="8799" u="none" cap="none" strike="noStrike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250a17ee_1_47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89" name="Google Shape;89;g3d9250a17ee_1_47"/>
          <p:cNvSpPr txBox="1"/>
          <p:nvPr>
            <p:ph idx="1" type="body"/>
          </p:nvPr>
        </p:nvSpPr>
        <p:spPr>
          <a:xfrm>
            <a:off x="685800" y="3076975"/>
            <a:ext cx="8009100" cy="6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Bienvenida y Presentación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Evaluación de Conocimientos Previos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Presentación de Estudiantes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Senso de Horarios de Calificación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Programa del Curso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Evaluación de Conocimientos del Curso Actual</a:t>
            </a:r>
            <a:endParaRPr/>
          </a:p>
        </p:txBody>
      </p:sp>
      <p:pic>
        <p:nvPicPr>
          <p:cNvPr id="90" name="Google Shape;90;g3d9250a17ee_1_47" title="icon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4900" y="407875"/>
            <a:ext cx="9288300" cy="92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250a17ee_1_7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Presentación del Tutor</a:t>
            </a:r>
            <a:endParaRPr/>
          </a:p>
        </p:txBody>
      </p:sp>
      <p:sp>
        <p:nvSpPr>
          <p:cNvPr id="96" name="Google Shape;96;g3d9250a17ee_1_7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Resolución de Dudas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Proveer Material de Apoyo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Proveer Ejercicios de Práctica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Apoyo Técnico</a:t>
            </a:r>
            <a:endParaRPr/>
          </a:p>
        </p:txBody>
      </p:sp>
      <p:pic>
        <p:nvPicPr>
          <p:cNvPr id="97" name="Google Shape;97;g3d9250a17ee_1_75" title="y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5225" y="1237675"/>
            <a:ext cx="6178956" cy="82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28c39a874_0_0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Evaluación de Conocimientos Previos</a:t>
            </a:r>
            <a:endParaRPr/>
          </a:p>
        </p:txBody>
      </p:sp>
      <p:sp>
        <p:nvSpPr>
          <p:cNvPr id="103" name="Google Shape;103;g3e28c39a874_0_0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Preguntas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250a17ee_1_85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Presentación de Estudiantes</a:t>
            </a:r>
            <a:endParaRPr/>
          </a:p>
        </p:txBody>
      </p:sp>
      <p:sp>
        <p:nvSpPr>
          <p:cNvPr id="109" name="Google Shape;109;g3d9250a17ee_1_85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/>
              <a:t>¡Conozcámonos un poco!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3a4c42f7d_1_0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Consejos para una participaci</a:t>
            </a:r>
            <a:r>
              <a:rPr lang="en-US"/>
              <a:t>ón exitosa</a:t>
            </a:r>
            <a:endParaRPr/>
          </a:p>
        </p:txBody>
      </p:sp>
      <p:sp>
        <p:nvSpPr>
          <p:cNvPr id="115" name="Google Shape;115;g3f3a4c42f7d_1_0"/>
          <p:cNvSpPr txBox="1"/>
          <p:nvPr>
            <p:ph idx="1" type="body"/>
          </p:nvPr>
        </p:nvSpPr>
        <p:spPr>
          <a:xfrm>
            <a:off x="685800" y="3279950"/>
            <a:ext cx="7597200" cy="619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Tu opinión es importante: atrévete a compartir tus ideas.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Nadie aprende sin equivocarse: participa aunque no estés completamente seguro.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Cada pregunta ayuda a comprender mejor los conceptos y beneficia a todo el grupo.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Explicar tu razonamiento es tan valioso como llegar a la respuesta correcta.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Participar con confianza fortalece tu aprendizaje y tus habilidades profesionales.</a:t>
            </a:r>
            <a:endParaRPr/>
          </a:p>
        </p:txBody>
      </p:sp>
      <p:pic>
        <p:nvPicPr>
          <p:cNvPr id="116" name="Google Shape;116;g3f3a4c42f7d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925" y="2314000"/>
            <a:ext cx="8488500" cy="56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9250a17ee_1_95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Senso: Horarios de Calificación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9250a17ee_1_99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Programa del Curso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28c39a874_0_6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Evaluación de Conocimientos Actuales</a:t>
            </a:r>
            <a:endParaRPr/>
          </a:p>
        </p:txBody>
      </p:sp>
      <p:sp>
        <p:nvSpPr>
          <p:cNvPr id="132" name="Google Shape;132;g3e28c39a874_0_6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Preguntas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250a17ee_1_10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Motivaciones para estudiar compiladores</a:t>
            </a:r>
            <a:endParaRPr/>
          </a:p>
        </p:txBody>
      </p:sp>
      <p:sp>
        <p:nvSpPr>
          <p:cNvPr id="138" name="Google Shape;138;g3d9250a17ee_1_107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Aprenderás a…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Integrar múltiples áreas de la Ciencias de la Computación en un solo sistema.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Razonar con precisión usando gramáticas y análisis formal.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Entender qué ocurre entre escribir código y su ejecución en máquina.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Aplicar estructuras de datos y algoritmos en problemas complejos.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Desarrollar intérpretes, editores y herramientas de análisis.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Sentar bases para áreas como la Inteligencia Artificial.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Comprender y diseñar lenguajes de programación.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9" name="Google Shape;139;g3d9250a17ee_1_107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2225" y="5489825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250a17ee_1_112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Breve Historia del Compilador</a:t>
            </a:r>
            <a:endParaRPr/>
          </a:p>
        </p:txBody>
      </p:sp>
      <p:pic>
        <p:nvPicPr>
          <p:cNvPr id="145" name="Google Shape;145;g3d9250a17ee_1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211" y="2446900"/>
            <a:ext cx="12351625" cy="68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d9250a17ee_1_112" title="ide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9275" y="5498650"/>
            <a:ext cx="7182501" cy="47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9250a17ee_1_11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Estructura de un Compilador</a:t>
            </a:r>
            <a:endParaRPr/>
          </a:p>
        </p:txBody>
      </p:sp>
      <p:sp>
        <p:nvSpPr>
          <p:cNvPr id="152" name="Google Shape;152;g3d9250a17ee_1_117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Léxico		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Identificar palabras (tokens)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Sintáctico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Identificar sentencias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Semántico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Analizar sentido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Generación de Código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Traducción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Optimización		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Edición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g3d9250a17ee_1_117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7700" y="4339350"/>
            <a:ext cx="9086477" cy="605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d9250a17ee_1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2975" y="5024423"/>
            <a:ext cx="6722599" cy="42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9250a17ee_1_150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Tarea de Repaso</a:t>
            </a:r>
            <a:endParaRPr/>
          </a:p>
        </p:txBody>
      </p:sp>
      <p:sp>
        <p:nvSpPr>
          <p:cNvPr id="160" name="Google Shape;160;g3d9250a17ee_1_150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/>
              <a:t>Validemos conocimientos previos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/>
          <p:nvPr/>
        </p:nvSpPr>
        <p:spPr>
          <a:xfrm>
            <a:off x="3861682" y="8119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/>
          <p:nvPr/>
        </p:nvSpPr>
        <p:spPr>
          <a:xfrm>
            <a:off x="4292038" y="134300"/>
            <a:ext cx="9703931" cy="5426393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>
            <a:off x="2589625" y="6257925"/>
            <a:ext cx="13212600" cy="3281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00"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i="1" lang="en-US" sz="2900"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i="1" lang="en-US" sz="2900">
                <a:latin typeface="Roboto"/>
                <a:ea typeface="Roboto"/>
                <a:cs typeface="Roboto"/>
                <a:sym typeface="Roboto"/>
              </a:rPr>
              <a:t>n el ámbito profesional, no basta con tener buenas ideas; también es necesario expresarlas, defenderlas y discutirlas con otras personas. La clase es un espacio seguro para practicar estas habilidades, aprender de los errores y desarrollar la confianza que les ayudará en su futuro laboral.”</a:t>
            </a:r>
            <a:endParaRPr i="1" sz="2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