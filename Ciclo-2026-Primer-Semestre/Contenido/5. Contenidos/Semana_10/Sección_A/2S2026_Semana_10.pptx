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10287000" cx="18288000"/>
  <p:notesSz cx="6858000" cy="9144000"/>
  <p:embeddedFontLst>
    <p:embeddedFont>
      <p:font typeface="Roboto ExtraLight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Roboto Medium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  <p:embeddedFont>
      <p:font typeface="Roboto Light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jGNABCfetd7HNubfx4tC0NlwwK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47503D-28E9-45C7-868C-4D22AA47591D}">
  <a:tblStyle styleId="{4547503D-28E9-45C7-868C-4D22AA47591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EA753F4-8F23-4071-9DB1-93CEAF50313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.fntdata"/><Relationship Id="rId20" Type="http://schemas.openxmlformats.org/officeDocument/2006/relationships/slide" Target="slides/slide14.xml"/><Relationship Id="rId42" Type="http://schemas.openxmlformats.org/officeDocument/2006/relationships/font" Target="fonts/RobotoLight-boldItalic.fntdata"/><Relationship Id="rId41" Type="http://schemas.openxmlformats.org/officeDocument/2006/relationships/font" Target="fonts/RobotoLight-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bold.fntdata"/><Relationship Id="rId21" Type="http://schemas.openxmlformats.org/officeDocument/2006/relationships/slide" Target="slides/slide15.xml"/><Relationship Id="rId43" Type="http://schemas.openxmlformats.org/officeDocument/2006/relationships/font" Target="fonts/OpenSans-regular.fntdata"/><Relationship Id="rId24" Type="http://schemas.openxmlformats.org/officeDocument/2006/relationships/font" Target="fonts/RobotoExtraLight-bold.fntdata"/><Relationship Id="rId46" Type="http://schemas.openxmlformats.org/officeDocument/2006/relationships/font" Target="fonts/OpenSans-boldItalic.fntdata"/><Relationship Id="rId23" Type="http://schemas.openxmlformats.org/officeDocument/2006/relationships/font" Target="fonts/RobotoExtraLight-regular.fntdata"/><Relationship Id="rId45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Light-boldItalic.fntdata"/><Relationship Id="rId25" Type="http://schemas.openxmlformats.org/officeDocument/2006/relationships/font" Target="fonts/RobotoExtraLight-italic.fntdata"/><Relationship Id="rId47" Type="http://customschemas.google.com/relationships/presentationmetadata" Target="meta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Medium-italic.fntdata"/><Relationship Id="rId10" Type="http://schemas.openxmlformats.org/officeDocument/2006/relationships/slide" Target="slides/slide4.xml"/><Relationship Id="rId32" Type="http://schemas.openxmlformats.org/officeDocument/2006/relationships/font" Target="fonts/RobotoMedium-bold.fntdata"/><Relationship Id="rId13" Type="http://schemas.openxmlformats.org/officeDocument/2006/relationships/slide" Target="slides/slide7.xml"/><Relationship Id="rId35" Type="http://schemas.openxmlformats.org/officeDocument/2006/relationships/font" Target="fonts/Lato-regular.fntdata"/><Relationship Id="rId12" Type="http://schemas.openxmlformats.org/officeDocument/2006/relationships/slide" Target="slides/slide6.xml"/><Relationship Id="rId34" Type="http://schemas.openxmlformats.org/officeDocument/2006/relationships/font" Target="fonts/RobotoMedium-boldItalic.fntdata"/><Relationship Id="rId15" Type="http://schemas.openxmlformats.org/officeDocument/2006/relationships/slide" Target="slides/slide9.xml"/><Relationship Id="rId37" Type="http://schemas.openxmlformats.org/officeDocument/2006/relationships/font" Target="fonts/Lato-italic.fntdata"/><Relationship Id="rId14" Type="http://schemas.openxmlformats.org/officeDocument/2006/relationships/slide" Target="slides/slide8.xml"/><Relationship Id="rId36" Type="http://schemas.openxmlformats.org/officeDocument/2006/relationships/font" Target="fonts/Lato-bold.fntdata"/><Relationship Id="rId17" Type="http://schemas.openxmlformats.org/officeDocument/2006/relationships/slide" Target="slides/slide11.xml"/><Relationship Id="rId39" Type="http://schemas.openxmlformats.org/officeDocument/2006/relationships/font" Target="fonts/RobotoLight-regular.fntdata"/><Relationship Id="rId16" Type="http://schemas.openxmlformats.org/officeDocument/2006/relationships/slide" Target="slides/slide10.xml"/><Relationship Id="rId38" Type="http://schemas.openxmlformats.org/officeDocument/2006/relationships/font" Target="fonts/Lat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8eceb5d35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8eceb5d3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8eceb5d35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8eceb5d3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eceb5d35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8eceb5d3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8eceb5d35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8eceb5d3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a701eccf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9a701eccf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8eceb5d35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f8eceb5d3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eceb5d35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f8eceb5d3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53" name="Google Shape;53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5" name="Google Shape;55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7" name="Google Shape;57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9" name="Google Shape;59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lvm.org/docs/LangRef.html" TargetMode="External"/><Relationship Id="rId4" Type="http://schemas.openxmlformats.org/officeDocument/2006/relationships/hyperlink" Target="https://johannst.github.io/notes/arch/arm64.html" TargetMode="External"/><Relationship Id="rId5" Type="http://schemas.openxmlformats.org/officeDocument/2006/relationships/hyperlink" Target="https://uedi.ingenieria.usac.edu.gt/campus/mod/folder/view.php?id=438979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60" y="9201150"/>
            <a:ext cx="77265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Diego Felipe Cali Morales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90375" y="24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{4547503D-28E9-45C7-868C-4D22AA47591D}</a:tableStyleId>
              </a:tblPr>
              <a:tblGrid>
                <a:gridCol w="1163525"/>
                <a:gridCol w="249887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/09/2026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</a:t>
            </a:r>
            <a:r>
              <a:rPr b="1" lang="en-US" sz="8799"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2057550" y="4614300"/>
            <a:ext cx="141729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latin typeface="Open Sans"/>
                <a:ea typeface="Open Sans"/>
                <a:cs typeface="Open Sans"/>
                <a:sym typeface="Open Sans"/>
              </a:rPr>
              <a:t>Implementación de arreglos y su traducción a bajo nivel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Entrega de Tarea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Foro semanal</a:t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685451" y="1459488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Representaci</a:t>
            </a:r>
            <a:r>
              <a:rPr lang="en-US"/>
              <a:t>ón lineal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Variables en ARM64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Rol del Compilador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Ejemplo C3D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Implementación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4" name="Google Shape;104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Competencias: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Generar un compilador utilizando como representación intermedia lenguajes ensambladores como Aarch64.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Valor de la Semana: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Rigor técnico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8eceb5d35_0_8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Representaci</a:t>
            </a:r>
            <a:r>
              <a:rPr lang="en-US"/>
              <a:t>ón lineal</a:t>
            </a:r>
            <a:endParaRPr/>
          </a:p>
        </p:txBody>
      </p:sp>
      <p:sp>
        <p:nvSpPr>
          <p:cNvPr id="111" name="Google Shape;111;g3f8eceb5d35_0_8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Row-Major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Address(A[I][J])=B+W⋅((I−LR)⋅N+(J−LC))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Significado de cada símbolo: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 = dirección base del arreglo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W = tamaño de cada elemento en bytes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I = índice de fila del elemento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J = índice de columna del elemento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LR = límite inferior de filas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LC = límite inferior de columnas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N = número total de columnas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g3f8eceb5d35_0_8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Column-Major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Lato"/>
                <a:ea typeface="Lato"/>
                <a:cs typeface="Lato"/>
                <a:sym typeface="Lato"/>
              </a:rPr>
              <a:t>Address(A[I][J])=B+W⋅((J−LC)⋅M+(I−LR))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Significado de cada símbolo: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Char char="●"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M = número total de filas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g3f8eceb5d35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3288" y="5099398"/>
            <a:ext cx="8139825" cy="44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8eceb5d35_0_18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Representaci</a:t>
            </a:r>
            <a:r>
              <a:rPr lang="en-US"/>
              <a:t>ón gráfica de Column-Major</a:t>
            </a:r>
            <a:endParaRPr/>
          </a:p>
        </p:txBody>
      </p:sp>
      <p:pic>
        <p:nvPicPr>
          <p:cNvPr id="119" name="Google Shape;119;g3f8eceb5d35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3013" y="1873300"/>
            <a:ext cx="9922276" cy="541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8eceb5d35_0_24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Tamaño de los elementos en memoria (ARM64)</a:t>
            </a:r>
            <a:endParaRPr/>
          </a:p>
        </p:txBody>
      </p:sp>
      <p:sp>
        <p:nvSpPr>
          <p:cNvPr id="125" name="Google Shape;125;g3f8eceb5d35_0_24"/>
          <p:cNvSpPr txBox="1"/>
          <p:nvPr>
            <p:ph idx="1" type="body"/>
          </p:nvPr>
        </p:nvSpPr>
        <p:spPr>
          <a:xfrm>
            <a:off x="5418550" y="2307500"/>
            <a:ext cx="117213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Para un arreglo: int A[1..3][1..4]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Cada elemento ocupa: W = 4 bytes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Por lo tanto, en Row-Major: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Address(A[i][j]) = B + 4 × ((i-1) × 4 + (j-1))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Por ejemplo, A[1][2]: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Offset = (0 × 4 + 1) × 4 = 4 bytes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Entonces: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Address(A[1][2]) = B + 4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26" name="Google Shape;126;g3f8eceb5d35_0_24"/>
          <p:cNvGraphicFramePr/>
          <p:nvPr/>
        </p:nvGraphicFramePr>
        <p:xfrm>
          <a:off x="1508450" y="294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{0EA753F4-8F23-4071-9DB1-93CEAF503134}</a:tableStyleId>
              </a:tblPr>
              <a:tblGrid>
                <a:gridCol w="1603150"/>
                <a:gridCol w="18649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Tipo</a:t>
                      </a:r>
                      <a:endParaRPr b="1"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Tamaño</a:t>
                      </a:r>
                      <a:endParaRPr b="1"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char</a:t>
                      </a:r>
                      <a:endParaRPr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 byte</a:t>
                      </a:r>
                      <a:endParaRPr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</a:t>
                      </a:r>
                      <a:endParaRPr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 bytes</a:t>
                      </a:r>
                      <a:endParaRPr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</a:t>
                      </a:r>
                      <a:endParaRPr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 bytes</a:t>
                      </a:r>
                      <a:endParaRPr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long</a:t>
                      </a:r>
                      <a:endParaRPr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 bytes</a:t>
                      </a:r>
                      <a:endParaRPr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float</a:t>
                      </a:r>
                      <a:endParaRPr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 bytes</a:t>
                      </a:r>
                      <a:endParaRPr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double</a:t>
                      </a:r>
                      <a:endParaRPr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 bytes</a:t>
                      </a:r>
                      <a:endParaRPr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bool</a:t>
                      </a:r>
                      <a:endParaRPr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 byte</a:t>
                      </a:r>
                      <a:endParaRPr sz="3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8eceb5d35_0_42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C3D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sp>
        <p:nvSpPr>
          <p:cNvPr id="137" name="Google Shape;137;g39a701eccfd_0_113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Row-Major: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Estrategia de almacenamiento que guarda los elementos de un arreglo fila por fila.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Column-Major: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Estrategia de almacenamiento que guarda los elementos de un arreglo columna por columna.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Dirección Base (B):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La dirección de memoria inicial absoluta donde comienza el primer elemento del arreglo.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Offset (Desplazamiento):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La cantidad de bytes que se deben saltar desde la dirección base para encontrar un elemento.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Límite Inferior (LR/LC):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El índice inicial permitido en una dimensión del arreglo, que no siempre comienza en cero.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701eccfd_0_131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Implementaci</a:t>
            </a:r>
            <a:r>
              <a:rPr lang="en-US"/>
              <a:t>ón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8eceb5d35_0_46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48" name="Google Shape;148;g3f8eceb5d35_0_46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2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8eceb5d35_0_51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54" name="Google Shape;154;g3f8eceb5d35_0_51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2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LLVM Reference Manual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ARM64 Cheat Sheet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5"/>
              </a:rPr>
              <a:t>Repasos UEDi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