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10287000" cx="18288000"/>
  <p:notesSz cx="6858000" cy="9144000"/>
  <p:embeddedFontLst>
    <p:embeddedFont>
      <p:font typeface="Roboto ExtraLight"/>
      <p:regular r:id="rId27"/>
      <p:bold r:id="rId28"/>
      <p:italic r:id="rId29"/>
      <p:boldItalic r:id="rId30"/>
    </p:embeddedFont>
    <p:embeddedFont>
      <p:font typeface="Roboto"/>
      <p:regular r:id="rId31"/>
      <p:bold r:id="rId32"/>
      <p:italic r:id="rId33"/>
      <p:boldItalic r:id="rId34"/>
    </p:embeddedFont>
    <p:embeddedFont>
      <p:font typeface="Roboto Medium"/>
      <p:regular r:id="rId35"/>
      <p:bold r:id="rId36"/>
      <p:italic r:id="rId37"/>
      <p:boldItalic r:id="rId38"/>
    </p:embeddedFont>
    <p:embeddedFont>
      <p:font typeface="Roboto Light"/>
      <p:regular r:id="rId39"/>
      <p:bold r:id="rId40"/>
      <p:italic r:id="rId41"/>
      <p:boldItalic r:id="rId42"/>
    </p:embeddedFont>
    <p:embeddedFont>
      <p:font typeface="Open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7" roundtripDataSignature="AMtx7mi+TJ7Ui9FwkwZZWvnJ9bxcPvyF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8134A83-4C9A-431E-8488-4A4E7459A72E}">
  <a:tblStyle styleId="{18134A83-4C9A-431E-8488-4A4E7459A72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Light-bold.fntdata"/><Relationship Id="rId20" Type="http://schemas.openxmlformats.org/officeDocument/2006/relationships/slide" Target="slides/slide14.xml"/><Relationship Id="rId42" Type="http://schemas.openxmlformats.org/officeDocument/2006/relationships/font" Target="fonts/RobotoLight-boldItalic.fntdata"/><Relationship Id="rId41" Type="http://schemas.openxmlformats.org/officeDocument/2006/relationships/font" Target="fonts/RobotoLight-italic.fntdata"/><Relationship Id="rId22" Type="http://schemas.openxmlformats.org/officeDocument/2006/relationships/slide" Target="slides/slide16.xml"/><Relationship Id="rId44" Type="http://schemas.openxmlformats.org/officeDocument/2006/relationships/font" Target="fonts/OpenSans-bold.fntdata"/><Relationship Id="rId21" Type="http://schemas.openxmlformats.org/officeDocument/2006/relationships/slide" Target="slides/slide15.xml"/><Relationship Id="rId43" Type="http://schemas.openxmlformats.org/officeDocument/2006/relationships/font" Target="fonts/OpenSans-regular.fntdata"/><Relationship Id="rId24" Type="http://schemas.openxmlformats.org/officeDocument/2006/relationships/slide" Target="slides/slide18.xml"/><Relationship Id="rId46" Type="http://schemas.openxmlformats.org/officeDocument/2006/relationships/font" Target="fonts/OpenSans-boldItalic.fntdata"/><Relationship Id="rId23" Type="http://schemas.openxmlformats.org/officeDocument/2006/relationships/slide" Target="slides/slide17.xml"/><Relationship Id="rId45" Type="http://schemas.openxmlformats.org/officeDocument/2006/relationships/font" Target="fonts/Open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customschemas.google.com/relationships/presentationmetadata" Target="metadata"/><Relationship Id="rId28" Type="http://schemas.openxmlformats.org/officeDocument/2006/relationships/font" Target="fonts/RobotoExtraLight-bold.fntdata"/><Relationship Id="rId27" Type="http://schemas.openxmlformats.org/officeDocument/2006/relationships/font" Target="fonts/RobotoExtraLigh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ExtraLigh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regular.fntdata"/><Relationship Id="rId30" Type="http://schemas.openxmlformats.org/officeDocument/2006/relationships/font" Target="fonts/RobotoExtraLight-boldItalic.fntdata"/><Relationship Id="rId11" Type="http://schemas.openxmlformats.org/officeDocument/2006/relationships/slide" Target="slides/slide5.xml"/><Relationship Id="rId33" Type="http://schemas.openxmlformats.org/officeDocument/2006/relationships/font" Target="fonts/Roboto-italic.fntdata"/><Relationship Id="rId10" Type="http://schemas.openxmlformats.org/officeDocument/2006/relationships/slide" Target="slides/slide4.xml"/><Relationship Id="rId32" Type="http://schemas.openxmlformats.org/officeDocument/2006/relationships/font" Target="fonts/Roboto-bold.fntdata"/><Relationship Id="rId13" Type="http://schemas.openxmlformats.org/officeDocument/2006/relationships/slide" Target="slides/slide7.xml"/><Relationship Id="rId35" Type="http://schemas.openxmlformats.org/officeDocument/2006/relationships/font" Target="fonts/RobotoMedium-regular.fntdata"/><Relationship Id="rId12" Type="http://schemas.openxmlformats.org/officeDocument/2006/relationships/slide" Target="slides/slide6.xml"/><Relationship Id="rId34" Type="http://schemas.openxmlformats.org/officeDocument/2006/relationships/font" Target="fonts/Roboto-boldItalic.fntdata"/><Relationship Id="rId15" Type="http://schemas.openxmlformats.org/officeDocument/2006/relationships/slide" Target="slides/slide9.xml"/><Relationship Id="rId37" Type="http://schemas.openxmlformats.org/officeDocument/2006/relationships/font" Target="fonts/RobotoMedium-italic.fntdata"/><Relationship Id="rId14" Type="http://schemas.openxmlformats.org/officeDocument/2006/relationships/slide" Target="slides/slide8.xml"/><Relationship Id="rId36" Type="http://schemas.openxmlformats.org/officeDocument/2006/relationships/font" Target="fonts/RobotoMedium-bold.fntdata"/><Relationship Id="rId17" Type="http://schemas.openxmlformats.org/officeDocument/2006/relationships/slide" Target="slides/slide11.xml"/><Relationship Id="rId39" Type="http://schemas.openxmlformats.org/officeDocument/2006/relationships/font" Target="fonts/RobotoLight-regular.fntdata"/><Relationship Id="rId16" Type="http://schemas.openxmlformats.org/officeDocument/2006/relationships/slide" Target="slides/slide10.xml"/><Relationship Id="rId38" Type="http://schemas.openxmlformats.org/officeDocument/2006/relationships/font" Target="fonts/RobotoMedium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a701eccfd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9a701eccf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a701eccfd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9a701eccf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a701eccfd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9a701eccfd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a701eccfd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9a701eccfd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fc97528ef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dfc97528e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5cf52d503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f5cf52d50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fc97528ef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dfc97528e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fc97528ef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dfc97528e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fc97528ef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dfc97528e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a701eccfd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9a701eccfd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a701eccfd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9a701eccfd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3c833c2b3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3c833c2b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3c833c2b3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f3c833c2b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a701eccfd_0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9a701eccf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a701eccfd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9a701eccfd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9a701eccfd_0_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39a701eccfd_0_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9a701eccfd_0_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9a701eccfd_0_25"/>
          <p:cNvSpPr/>
          <p:nvPr/>
        </p:nvSpPr>
        <p:spPr>
          <a:xfrm>
            <a:off x="733800" y="1237675"/>
            <a:ext cx="7913100" cy="1761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g39a701eccfd_0_25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9a701eccfd_0_25"/>
          <p:cNvSpPr/>
          <p:nvPr/>
        </p:nvSpPr>
        <p:spPr>
          <a:xfrm>
            <a:off x="733800" y="3076975"/>
            <a:ext cx="7913100" cy="6321300"/>
          </a:xfrm>
          <a:prstGeom prst="snip1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9a701eccfd_0_25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500"/>
              <a:buFont typeface="Roboto Medium"/>
              <a:buNone/>
              <a:defRPr sz="2500">
                <a:solidFill>
                  <a:srgbClr val="88888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Roboto"/>
              <a:buNone/>
              <a:defRPr sz="23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Roboto Light"/>
              <a:buNone/>
              <a:defRPr sz="2100">
                <a:solidFill>
                  <a:srgbClr val="888888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9a701eccfd_0_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9a701eccfd_0_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g39a701eccfd_0_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g39a701eccfd_0_30"/>
          <p:cNvSpPr/>
          <p:nvPr/>
        </p:nvSpPr>
        <p:spPr>
          <a:xfrm>
            <a:off x="1148475" y="75685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g39a701eccfd_0_30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g39a701eccfd_0_30"/>
          <p:cNvSpPr txBox="1"/>
          <p:nvPr>
            <p:ph idx="2" type="ftr"/>
          </p:nvPr>
        </p:nvSpPr>
        <p:spPr>
          <a:xfrm>
            <a:off x="2033490" y="6761300"/>
            <a:ext cx="136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39a701eccfd_0_30"/>
          <p:cNvSpPr txBox="1"/>
          <p:nvPr>
            <p:ph idx="3" type="sldNum"/>
          </p:nvPr>
        </p:nvSpPr>
        <p:spPr>
          <a:xfrm>
            <a:off x="3649936" y="6761300"/>
            <a:ext cx="100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g39a701eccfd_0_30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9a701eccfd_0_30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31" name="Google Shape;31;g39a701eccfd_0_30"/>
          <p:cNvSpPr txBox="1"/>
          <p:nvPr>
            <p:ph idx="4" type="sldNum"/>
          </p:nvPr>
        </p:nvSpPr>
        <p:spPr>
          <a:xfrm>
            <a:off x="11491720" y="6783200"/>
            <a:ext cx="1127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g39a701eccfd_0_30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9a701eccfd_0_18"/>
          <p:cNvSpPr txBox="1"/>
          <p:nvPr>
            <p:ph idx="11" type="ftr"/>
          </p:nvPr>
        </p:nvSpPr>
        <p:spPr>
          <a:xfrm>
            <a:off x="3025875" y="676130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9a701eccfd_0_18"/>
          <p:cNvSpPr txBox="1"/>
          <p:nvPr>
            <p:ph idx="12" type="sldNum"/>
          </p:nvPr>
        </p:nvSpPr>
        <p:spPr>
          <a:xfrm>
            <a:off x="6454875" y="676130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g39a701eccfd_0_18"/>
          <p:cNvSpPr/>
          <p:nvPr/>
        </p:nvSpPr>
        <p:spPr>
          <a:xfrm>
            <a:off x="1148475" y="72220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g39a701eccfd_0_1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9a701eccfd_0_18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g39a701eccfd_0_18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9a701eccfd_0_56"/>
          <p:cNvSpPr/>
          <p:nvPr/>
        </p:nvSpPr>
        <p:spPr>
          <a:xfrm>
            <a:off x="3351000" y="7415650"/>
            <a:ext cx="11586000" cy="1229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39a701eccfd_0_56"/>
          <p:cNvSpPr/>
          <p:nvPr>
            <p:ph idx="2" type="pic"/>
          </p:nvPr>
        </p:nvSpPr>
        <p:spPr>
          <a:xfrm>
            <a:off x="6400788" y="30265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g39a701eccfd_0_5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g39a701eccfd_0_5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g39a701eccfd_0_5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g39a701eccfd_0_56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b="1" sz="4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9a701eccfd_0_53"/>
          <p:cNvSpPr/>
          <p:nvPr/>
        </p:nvSpPr>
        <p:spPr>
          <a:xfrm>
            <a:off x="692175" y="3242525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g39a701eccfd_0_53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a701eccfd_0_11"/>
          <p:cNvSpPr/>
          <p:nvPr/>
        </p:nvSpPr>
        <p:spPr>
          <a:xfrm>
            <a:off x="681150" y="2919538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g39a701eccfd_0_11"/>
          <p:cNvSpPr txBox="1"/>
          <p:nvPr>
            <p:ph idx="11" type="ftr"/>
          </p:nvPr>
        </p:nvSpPr>
        <p:spPr>
          <a:xfrm>
            <a:off x="3146250" y="5757238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39a701eccfd_0_11"/>
          <p:cNvSpPr txBox="1"/>
          <p:nvPr>
            <p:ph idx="12" type="sldNum"/>
          </p:nvPr>
        </p:nvSpPr>
        <p:spPr>
          <a:xfrm>
            <a:off x="6575250" y="5757238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g39a701eccfd_0_11"/>
          <p:cNvSpPr/>
          <p:nvPr/>
        </p:nvSpPr>
        <p:spPr>
          <a:xfrm rot="10800000">
            <a:off x="2786850" y="5903763"/>
            <a:ext cx="12758400" cy="1463700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9a701eccfd_0_11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9a701eccfd_0_11"/>
          <p:cNvSpPr txBox="1"/>
          <p:nvPr>
            <p:ph idx="1" type="subTitle"/>
          </p:nvPr>
        </p:nvSpPr>
        <p:spPr>
          <a:xfrm>
            <a:off x="2787000" y="5903763"/>
            <a:ext cx="1275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Roboto"/>
              <a:buNone/>
              <a:defRPr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a701eccfd_0_42"/>
          <p:cNvSpPr/>
          <p:nvPr/>
        </p:nvSpPr>
        <p:spPr>
          <a:xfrm>
            <a:off x="4951829" y="4789363"/>
            <a:ext cx="8384400" cy="708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950" lIns="47950" spcFirstLastPara="1" rIns="47950" wrap="square" tIns="47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4"/>
              <a:buFont typeface="Arial"/>
              <a:buNone/>
            </a:pPr>
            <a:r>
              <a:t/>
            </a:r>
            <a:endParaRPr b="0" i="0" sz="73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9a701eccfd_0_42"/>
          <p:cNvSpPr txBox="1"/>
          <p:nvPr>
            <p:ph type="title"/>
          </p:nvPr>
        </p:nvSpPr>
        <p:spPr>
          <a:xfrm>
            <a:off x="4951750" y="4789363"/>
            <a:ext cx="8384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50" lIns="47950" spcFirstLastPara="1" rIns="47950" wrap="square" tIns="239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21"/>
              <a:buFont typeface="Roboto"/>
              <a:buNone/>
              <a:defRPr b="1" sz="2884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9pPr>
          </a:lstStyle>
          <a:p/>
        </p:txBody>
      </p:sp>
      <p:sp>
        <p:nvSpPr>
          <p:cNvPr id="60" name="Google Shape;60;g39a701eccfd_0_42"/>
          <p:cNvSpPr/>
          <p:nvPr/>
        </p:nvSpPr>
        <p:spPr>
          <a:xfrm>
            <a:off x="759600" y="378650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39a701eccfd_0_42"/>
          <p:cNvSpPr txBox="1"/>
          <p:nvPr>
            <p:ph idx="1" type="body"/>
          </p:nvPr>
        </p:nvSpPr>
        <p:spPr>
          <a:xfrm>
            <a:off x="759600" y="378650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62" name="Google Shape;62;g39a701eccfd_0_42"/>
          <p:cNvSpPr/>
          <p:nvPr/>
        </p:nvSpPr>
        <p:spPr>
          <a:xfrm>
            <a:off x="9144000" y="378650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9a701eccfd_0_42"/>
          <p:cNvSpPr txBox="1"/>
          <p:nvPr>
            <p:ph idx="2" type="body"/>
          </p:nvPr>
        </p:nvSpPr>
        <p:spPr>
          <a:xfrm>
            <a:off x="9143917" y="378622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64" name="Google Shape;64;g39a701eccfd_0_42"/>
          <p:cNvSpPr/>
          <p:nvPr/>
        </p:nvSpPr>
        <p:spPr>
          <a:xfrm>
            <a:off x="759600" y="5596175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39a701eccfd_0_42"/>
          <p:cNvSpPr txBox="1"/>
          <p:nvPr>
            <p:ph idx="3" type="body"/>
          </p:nvPr>
        </p:nvSpPr>
        <p:spPr>
          <a:xfrm>
            <a:off x="759600" y="5596175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66" name="Google Shape;66;g39a701eccfd_0_42"/>
          <p:cNvSpPr/>
          <p:nvPr/>
        </p:nvSpPr>
        <p:spPr>
          <a:xfrm>
            <a:off x="9144000" y="5596175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9a701eccfd_0_42"/>
          <p:cNvSpPr txBox="1"/>
          <p:nvPr>
            <p:ph idx="4" type="body"/>
          </p:nvPr>
        </p:nvSpPr>
        <p:spPr>
          <a:xfrm>
            <a:off x="9143917" y="5596147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a701eccfd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9a701eccfd_0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9a701eccfd_0_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39a701eccfd_0_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9a701eccfd_0_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g39a701eccfd_0_0" title="Fondo.png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8278300" cy="10287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ocs.google.com/document/d/12yO6JQMaEfErSP7lbV_30bLcjOWhLXXV/edit?usp=sharing&amp;ouid=114261064498700579036&amp;rtpof=true&amp;sd=true" TargetMode="External"/><Relationship Id="rId4" Type="http://schemas.openxmlformats.org/officeDocument/2006/relationships/hyperlink" Target="https://ply.readthedocs.io/en/latest/index.html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3" name="Google Shape;73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4" name="Google Shape;74;p1"/>
          <p:cNvSpPr txBox="1"/>
          <p:nvPr/>
        </p:nvSpPr>
        <p:spPr>
          <a:xfrm>
            <a:off x="5792539" y="4770907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" name="Google Shape;75;p1"/>
          <p:cNvSpPr txBox="1"/>
          <p:nvPr/>
        </p:nvSpPr>
        <p:spPr>
          <a:xfrm>
            <a:off x="348653" y="9201150"/>
            <a:ext cx="51270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lang="en-US" sz="3140">
                <a:latin typeface="Open Sans"/>
                <a:ea typeface="Open Sans"/>
                <a:cs typeface="Open Sans"/>
                <a:sym typeface="Open Sans"/>
              </a:rPr>
              <a:t>Diego Felipe Cali Morales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" name="Google Shape;76;p1"/>
          <p:cNvSpPr txBox="1"/>
          <p:nvPr/>
        </p:nvSpPr>
        <p:spPr>
          <a:xfrm>
            <a:off x="2904225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Organización de Lenguajes y Compiladores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9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77" name="Google Shape;77;p1"/>
          <p:cNvGraphicFramePr/>
          <p:nvPr/>
        </p:nvGraphicFramePr>
        <p:xfrm>
          <a:off x="12890375" y="241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{18134A83-4C9A-431E-8488-4A4E7459A72E}</a:tableStyleId>
              </a:tblPr>
              <a:tblGrid>
                <a:gridCol w="1163525"/>
                <a:gridCol w="2498875"/>
              </a:tblGrid>
              <a:tr h="61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Fecha</a:t>
                      </a:r>
                      <a:endParaRPr b="1" sz="2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28</a:t>
                      </a: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/</a:t>
                      </a:r>
                      <a:r>
                        <a:rPr b="1" lang="en-US" sz="2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07</a:t>
                      </a: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/2026</a:t>
                      </a:r>
                      <a:endParaRPr b="1" sz="2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/>
          <p:cNvSpPr/>
          <p:nvPr/>
        </p:nvSpPr>
        <p:spPr>
          <a:xfrm>
            <a:off x="0" y="0"/>
            <a:ext cx="18288000" cy="10297287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3" name="Google Shape;83;p2"/>
          <p:cNvSpPr txBox="1"/>
          <p:nvPr/>
        </p:nvSpPr>
        <p:spPr>
          <a:xfrm>
            <a:off x="6204049" y="3190240"/>
            <a:ext cx="5880000" cy="3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UNIDAD 1: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t/>
            </a:r>
            <a:endParaRPr b="1" i="0" sz="87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4791300" y="4646550"/>
            <a:ext cx="8329800" cy="26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Análisis Semántico</a:t>
            </a:r>
            <a:endParaRPr b="1" i="0" sz="7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a701eccfd_0_64"/>
          <p:cNvSpPr/>
          <p:nvPr/>
        </p:nvSpPr>
        <p:spPr>
          <a:xfrm>
            <a:off x="9551100" y="1166550"/>
            <a:ext cx="7860000" cy="795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9a701eccfd_0_64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Anuncios Importantes</a:t>
            </a:r>
            <a:endParaRPr/>
          </a:p>
        </p:txBody>
      </p:sp>
      <p:sp>
        <p:nvSpPr>
          <p:cNvPr id="91" name="Google Shape;91;g39a701eccfd_0_64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rPr lang="en-US"/>
              <a:t>Foro semanal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rPr lang="en-US"/>
              <a:t>Enunciado del Primer Proyecto</a:t>
            </a:r>
            <a:endParaRPr/>
          </a:p>
        </p:txBody>
      </p:sp>
      <p:sp>
        <p:nvSpPr>
          <p:cNvPr id="92" name="Google Shape;92;g39a701eccfd_0_64"/>
          <p:cNvSpPr/>
          <p:nvPr/>
        </p:nvSpPr>
        <p:spPr>
          <a:xfrm flipH="1">
            <a:off x="9685451" y="1459488"/>
            <a:ext cx="7591298" cy="7368025"/>
          </a:xfrm>
          <a:custGeom>
            <a:rect b="b" l="l" r="r" t="t"/>
            <a:pathLst>
              <a:path extrusionOk="0" h="4961633" w="4961633">
                <a:moveTo>
                  <a:pt x="0" y="0"/>
                </a:moveTo>
                <a:lnTo>
                  <a:pt x="4961633" y="0"/>
                </a:lnTo>
                <a:lnTo>
                  <a:pt x="4961633" y="4961632"/>
                </a:lnTo>
                <a:lnTo>
                  <a:pt x="0" y="4961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a701eccfd_0_72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98" name="Google Shape;98;g39a701eccfd_0_72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Atributos Sintetizados y Heredados	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Repaso Traducci</a:t>
            </a:r>
            <a:r>
              <a:rPr lang="en-US"/>
              <a:t>ón </a:t>
            </a:r>
            <a:r>
              <a:rPr lang="en-US"/>
              <a:t>Dirigida</a:t>
            </a:r>
            <a:r>
              <a:rPr lang="en-US"/>
              <a:t> por la Sintáxis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Alcance y Tabla de Símbolos		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Entornos	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Validación de Tipos	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Patr</a:t>
            </a:r>
            <a:r>
              <a:rPr lang="en-US"/>
              <a:t>ón Visitor</a:t>
            </a:r>
            <a:r>
              <a:rPr lang="en-US"/>
              <a:t>	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Tipado Est</a:t>
            </a:r>
            <a:r>
              <a:rPr lang="en-US"/>
              <a:t>ático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Ejemplo Práctico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Lectura del enunciado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a701eccfd_0_102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Competencias y Valor de la Semana</a:t>
            </a:r>
            <a:endParaRPr/>
          </a:p>
        </p:txBody>
      </p:sp>
      <p:sp>
        <p:nvSpPr>
          <p:cNvPr id="104" name="Google Shape;104;g39a701eccfd_0_102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Competencias: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Analiza la semántica de un lenguaje de programación mediante la validación de tipos, alcance y estructuras de control para determinar la corrección de expresiones y sentencias </a:t>
            </a:r>
            <a:r>
              <a:rPr lang="en-US"/>
              <a:t>						</a:t>
            </a:r>
            <a:endParaRPr/>
          </a:p>
        </p:txBody>
      </p:sp>
      <p:sp>
        <p:nvSpPr>
          <p:cNvPr id="105" name="Google Shape;105;g39a701eccfd_0_102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Valor de la Semana:</a:t>
            </a:r>
            <a:br>
              <a:rPr lang="en-US">
                <a:latin typeface="Roboto"/>
                <a:ea typeface="Roboto"/>
                <a:cs typeface="Roboto"/>
                <a:sym typeface="Roboto"/>
              </a:rPr>
            </a:br>
            <a:br>
              <a:rPr lang="en-US">
                <a:latin typeface="Roboto"/>
                <a:ea typeface="Roboto"/>
                <a:cs typeface="Roboto"/>
                <a:sym typeface="Roboto"/>
              </a:rPr>
            </a:br>
            <a:r>
              <a:rPr i="1" lang="en-US">
                <a:latin typeface="Roboto"/>
                <a:ea typeface="Roboto"/>
                <a:cs typeface="Roboto"/>
                <a:sym typeface="Roboto"/>
              </a:rPr>
              <a:t>Rigor y Precisión Técnica</a:t>
            </a: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a701eccfd_0_10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Atributos Sintetizados y Heredados</a:t>
            </a:r>
            <a:endParaRPr/>
          </a:p>
        </p:txBody>
      </p:sp>
      <p:sp>
        <p:nvSpPr>
          <p:cNvPr id="111" name="Google Shape;111;g39a701eccfd_0_108"/>
          <p:cNvSpPr txBox="1"/>
          <p:nvPr>
            <p:ph idx="1" type="body"/>
          </p:nvPr>
        </p:nvSpPr>
        <p:spPr>
          <a:xfrm>
            <a:off x="1148475" y="2307500"/>
            <a:ext cx="801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Son atributos que se calculan usando información de los hijos del nodo.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La información “sube” en el árbol sintáctico.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Por eso se llaman sintetizados: porque el nodo construye su valor a partir de sus hijos.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2" name="Google Shape;112;g39a701eccfd_0_108"/>
          <p:cNvPicPr preferRelativeResize="0"/>
          <p:nvPr/>
        </p:nvPicPr>
        <p:blipFill rotWithShape="1">
          <a:blip r:embed="rId3">
            <a:alphaModFix/>
          </a:blip>
          <a:srcRect b="10209" l="0" r="0" t="0"/>
          <a:stretch/>
        </p:blipFill>
        <p:spPr>
          <a:xfrm>
            <a:off x="9159675" y="2307488"/>
            <a:ext cx="6194425" cy="4615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39a701eccfd_0_108" title="pensativ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16050" y="5787300"/>
            <a:ext cx="7532248" cy="502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fc97528ef_0_16"/>
          <p:cNvSpPr/>
          <p:nvPr>
            <p:ph idx="2" type="pic"/>
          </p:nvPr>
        </p:nvSpPr>
        <p:spPr>
          <a:xfrm>
            <a:off x="6400788" y="30265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g3dfc97528ef_0_16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Ejemplo visual. Azul: sintetizado, Rojo: heredado</a:t>
            </a:r>
            <a:endParaRPr/>
          </a:p>
        </p:txBody>
      </p:sp>
      <p:pic>
        <p:nvPicPr>
          <p:cNvPr id="120" name="Google Shape;120;g3dfc97528ef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1112" y="596650"/>
            <a:ext cx="9045774" cy="654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5cf52d503_0_5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Ejercicio de Repaso</a:t>
            </a:r>
            <a:endParaRPr/>
          </a:p>
        </p:txBody>
      </p:sp>
      <p:sp>
        <p:nvSpPr>
          <p:cNvPr id="126" name="Google Shape;126;g3f5cf52d503_0_5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Considere la siguiente gramática para expresiones aritméticas: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S → 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 → E + 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  | E * 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  | num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  | ( E 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Se desea implementar una traducción dirigida por la sintaxis que convierta expresiones escritas en notación infija a notación postfija.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g3f5cf52d503_0_5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45720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Entrada 					Salida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(2+2)*3						22+3*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2+(3*4)						234*+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(2+3)*(4+5)				23+45+*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fc97528ef_0_22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Alcance y Tabla de Símbolos</a:t>
            </a:r>
            <a:endParaRPr/>
          </a:p>
        </p:txBody>
      </p:sp>
      <p:sp>
        <p:nvSpPr>
          <p:cNvPr id="133" name="Google Shape;133;g3dfc97528ef_0_22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¿Qué es el alcance (scope)?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El alcance es la parte del programa donde una variable “existe” y puede utilizarse.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g3dfc97528ef_0_22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¿Qué es una tabla de símbolos?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Es una estructura que guarda información sobre variables e identificadores.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5" name="Google Shape;135;g3dfc97528ef_0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688" y="4864550"/>
            <a:ext cx="9142474" cy="4678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fc97528ef_0_10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Entornos</a:t>
            </a:r>
            <a:endParaRPr/>
          </a:p>
        </p:txBody>
      </p:sp>
      <p:sp>
        <p:nvSpPr>
          <p:cNvPr id="141" name="Google Shape;141;g3dfc97528ef_0_10"/>
          <p:cNvSpPr txBox="1"/>
          <p:nvPr>
            <p:ph idx="1" type="body"/>
          </p:nvPr>
        </p:nvSpPr>
        <p:spPr>
          <a:xfrm>
            <a:off x="1148475" y="2307500"/>
            <a:ext cx="79731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C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uando un programa se ejecuta, el compilador y el sistema necesitan responder dos preguntas distintas: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¿A qué variable se refiere un nombre?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¿Qué valor tiene esa variable en este momento?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El entorno es la relación entre los nombres y las variables reales en memoria.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En otras palabras: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en-US">
                <a:latin typeface="Roboto"/>
                <a:ea typeface="Roboto"/>
                <a:cs typeface="Roboto"/>
                <a:sym typeface="Roboto"/>
              </a:rPr>
              <a:t>El entorno indica qué variable corresponde a cada nombre.</a:t>
            </a:r>
            <a:endParaRPr i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g3dfc97528ef_0_10"/>
          <p:cNvSpPr txBox="1"/>
          <p:nvPr>
            <p:ph idx="1" type="body"/>
          </p:nvPr>
        </p:nvSpPr>
        <p:spPr>
          <a:xfrm>
            <a:off x="9121575" y="2307500"/>
            <a:ext cx="79731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El entorno cambia cuando: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Roboto"/>
              <a:buChar char="•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entramos a una función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•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entramos a un bloque { }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•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se declara una nueva variable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Por eso el entorno está muy relacionado con el alcance (scope).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fc97528ef_0_5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Validación de Tipos	</a:t>
            </a:r>
            <a:endParaRPr/>
          </a:p>
        </p:txBody>
      </p:sp>
      <p:sp>
        <p:nvSpPr>
          <p:cNvPr id="148" name="Google Shape;148;g3dfc97528ef_0_5"/>
          <p:cNvSpPr txBox="1"/>
          <p:nvPr>
            <p:ph idx="1" type="body"/>
          </p:nvPr>
        </p:nvSpPr>
        <p:spPr>
          <a:xfrm>
            <a:off x="1148475" y="2307500"/>
            <a:ext cx="80067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La comprobación de tipos es el proceso donde el compilador verifica que las operaciones del programa tengan sentido según los tipos de datos.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Sirve para: detectar errores antes de ejecutar el programa, evitar comportamientos inesperados, hacer programas más seguros.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9" name="Google Shape;149;g3dfc97528ef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8550" y="4495750"/>
            <a:ext cx="6555250" cy="285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a701eccfd_0_113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Conceptos clave</a:t>
            </a:r>
            <a:endParaRPr/>
          </a:p>
        </p:txBody>
      </p:sp>
      <p:sp>
        <p:nvSpPr>
          <p:cNvPr id="155" name="Google Shape;155;g39a701eccfd_0_113"/>
          <p:cNvSpPr txBox="1"/>
          <p:nvPr>
            <p:ph idx="1" type="body"/>
          </p:nvPr>
        </p:nvSpPr>
        <p:spPr>
          <a:xfrm>
            <a:off x="1148475" y="2307500"/>
            <a:ext cx="148647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Análisis semántico: Verifica que el programa tenga sentido lógico además de una sintaxis correcta.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Atributos sintetizados y heredados: Permiten transmitir información dentro del árbol sintáctico para evaluar expresiones y reglas semánticas.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Alcance (Scope): Define en qué parte del programa una variable o identificador puede utilizarse.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Tabla de símbolos: Estructura que almacena información de variables, funciones y tipos durante la compilación.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Entornos y estados: El entorno relaciona nombres con variables; el estado relaciona variables con sus valores actuales.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Validación de tipos: Comprueba que las operaciones sean compatibles con los tipos de datos usados.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Corrección semántica: Garantiza que expresiones, sentencias y estructuras del programa sean válidas antes de ejecutarse.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a701eccfd_0_11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Referencias</a:t>
            </a:r>
            <a:endParaRPr/>
          </a:p>
        </p:txBody>
      </p:sp>
      <p:sp>
        <p:nvSpPr>
          <p:cNvPr id="161" name="Google Shape;161;g39a701eccfd_0_118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Aho, A. V., Lam, M. S., Sethi, R., &amp; Ullman, J. D. (2008). Compiladores: Principios, técnicas y herramientas (2.ª ed.). Pearson Educación.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3c833c2b3_0_8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Patr</a:t>
            </a:r>
            <a:r>
              <a:rPr lang="en-US"/>
              <a:t>ón Visitor</a:t>
            </a:r>
            <a:endParaRPr/>
          </a:p>
        </p:txBody>
      </p:sp>
      <p:sp>
        <p:nvSpPr>
          <p:cNvPr id="167" name="Google Shape;167;g3f3c833c2b3_0_8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Un compilador normalmente posee un AST con muchos tipos de nodos.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Sin Visitor, cada nodo termina mezclando múltiples responsabilidades: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87350" lvl="0" marL="457200" rtl="0" algn="l">
              <a:spcBef>
                <a:spcPts val="40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interpretar</a:t>
            </a:r>
            <a:endParaRPr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verificar tipos</a:t>
            </a:r>
            <a:endParaRPr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generar código</a:t>
            </a:r>
            <a:endParaRPr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optimizar</a:t>
            </a:r>
            <a:endParaRPr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imprimir el árbol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Esto viola el principio de responsabilidad única.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Con Visitor, el AST únicamente representa la estructura del programa.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/>
              <a:t>Cada operación se implementa en un visitante diferente.</a:t>
            </a:r>
            <a:endParaRPr/>
          </a:p>
        </p:txBody>
      </p:sp>
      <p:pic>
        <p:nvPicPr>
          <p:cNvPr id="168" name="Google Shape;168;g3f3c833c2b3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57550" y="1285875"/>
            <a:ext cx="7429500" cy="7715250"/>
          </a:xfrm>
          <a:prstGeom prst="rect">
            <a:avLst/>
          </a:prstGeom>
          <a:noFill/>
          <a:ln>
            <a:noFill/>
          </a:ln>
          <a:effectLst>
            <a:outerShdw blurRad="242888" rotWithShape="0" algn="bl" dir="5400000" dist="1905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3c833c2b3_0_20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Tipado Est</a:t>
            </a:r>
            <a:r>
              <a:rPr lang="en-US"/>
              <a:t>ático en Python</a:t>
            </a:r>
            <a:endParaRPr/>
          </a:p>
        </p:txBody>
      </p:sp>
      <p:sp>
        <p:nvSpPr>
          <p:cNvPr id="174" name="Google Shape;174;g3f3c833c2b3_0_20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Aunque Python es un lenguaje dinámico, el tipado estático mediante typing permite detectar muchos errores antes de ejecutar el compilador.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Ventajas</a:t>
            </a:r>
            <a:endParaRPr/>
          </a:p>
          <a:p>
            <a:pPr indent="-387350" lvl="0" marL="457200" rtl="0" algn="l">
              <a:spcBef>
                <a:spcPts val="40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Mayor legibilidad, ya que el código documenta qué tipo de datos espera cada función.</a:t>
            </a:r>
            <a:endParaRPr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Autocompletado y navegación más precisos en IDEs como VS Code o PyCharm.</a:t>
            </a:r>
            <a:endParaRPr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Refactorización más segura, reduciendo errores al modificar estructuras del compilador.</a:t>
            </a:r>
            <a:endParaRPr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Facilita el mantenimiento cuando el proyecto crece.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g3f3c833c2b3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73950" y="3039225"/>
            <a:ext cx="8789550" cy="420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a701eccfd_0_127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Ejemplo Práctico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a701eccfd_0_135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Recursos</a:t>
            </a:r>
            <a:endParaRPr/>
          </a:p>
        </p:txBody>
      </p:sp>
      <p:sp>
        <p:nvSpPr>
          <p:cNvPr id="186" name="Google Shape;186;g39a701eccfd_0_135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Actividad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 u="sng">
                <a:solidFill>
                  <a:schemeClr val="hlink"/>
                </a:solidFill>
                <a:hlinkClick r:id="rId4"/>
              </a:rPr>
              <a:t>Documentación de PLY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"/>
          <p:cNvSpPr/>
          <p:nvPr/>
        </p:nvSpPr>
        <p:spPr>
          <a:xfrm>
            <a:off x="814445" y="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"/>
          <p:cNvSpPr/>
          <p:nvPr/>
        </p:nvSpPr>
        <p:spPr>
          <a:xfrm>
            <a:off x="0" y="0"/>
            <a:ext cx="18288000" cy="10264140"/>
          </a:xfrm>
          <a:custGeom>
            <a:rect b="b" l="l" r="r" t="t"/>
            <a:pathLst>
              <a:path extrusionOk="0"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2" name="Google Shape;202;p12"/>
          <p:cNvSpPr txBox="1"/>
          <p:nvPr/>
        </p:nvSpPr>
        <p:spPr>
          <a:xfrm>
            <a:off x="5655069" y="166707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2"/>
          <p:cNvSpPr txBox="1"/>
          <p:nvPr/>
        </p:nvSpPr>
        <p:spPr>
          <a:xfrm>
            <a:off x="5655069" y="246044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2"/>
          <p:cNvSpPr txBox="1"/>
          <p:nvPr/>
        </p:nvSpPr>
        <p:spPr>
          <a:xfrm>
            <a:off x="5655069" y="3475309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2"/>
          <p:cNvSpPr txBox="1"/>
          <p:nvPr/>
        </p:nvSpPr>
        <p:spPr>
          <a:xfrm>
            <a:off x="13953088" y="209125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2"/>
          <p:cNvSpPr txBox="1"/>
          <p:nvPr/>
        </p:nvSpPr>
        <p:spPr>
          <a:xfrm>
            <a:off x="13953088" y="288462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2"/>
          <p:cNvSpPr txBox="1"/>
          <p:nvPr/>
        </p:nvSpPr>
        <p:spPr>
          <a:xfrm>
            <a:off x="13953088" y="368028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2"/>
          <p:cNvSpPr txBox="1"/>
          <p:nvPr/>
        </p:nvSpPr>
        <p:spPr>
          <a:xfrm>
            <a:off x="277231" y="50863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2"/>
          <p:cNvSpPr txBox="1"/>
          <p:nvPr/>
        </p:nvSpPr>
        <p:spPr>
          <a:xfrm>
            <a:off x="277231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2"/>
          <p:cNvSpPr txBox="1"/>
          <p:nvPr/>
        </p:nvSpPr>
        <p:spPr>
          <a:xfrm>
            <a:off x="277231" y="662009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2"/>
          <p:cNvSpPr txBox="1"/>
          <p:nvPr/>
        </p:nvSpPr>
        <p:spPr>
          <a:xfrm>
            <a:off x="277231" y="760040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2"/>
          <p:cNvSpPr txBox="1"/>
          <p:nvPr/>
        </p:nvSpPr>
        <p:spPr>
          <a:xfrm>
            <a:off x="277231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2"/>
          <p:cNvSpPr txBox="1"/>
          <p:nvPr/>
        </p:nvSpPr>
        <p:spPr>
          <a:xfrm>
            <a:off x="277231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2"/>
          <p:cNvSpPr txBox="1"/>
          <p:nvPr/>
        </p:nvSpPr>
        <p:spPr>
          <a:xfrm>
            <a:off x="6406538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2"/>
          <p:cNvSpPr txBox="1"/>
          <p:nvPr/>
        </p:nvSpPr>
        <p:spPr>
          <a:xfrm>
            <a:off x="6406538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2"/>
          <p:cNvSpPr txBox="1"/>
          <p:nvPr/>
        </p:nvSpPr>
        <p:spPr>
          <a:xfrm>
            <a:off x="6406538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2"/>
          <p:cNvSpPr txBox="1"/>
          <p:nvPr/>
        </p:nvSpPr>
        <p:spPr>
          <a:xfrm>
            <a:off x="6406538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2"/>
          <p:cNvSpPr txBox="1"/>
          <p:nvPr/>
        </p:nvSpPr>
        <p:spPr>
          <a:xfrm>
            <a:off x="6406538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2"/>
          <p:cNvSpPr txBox="1"/>
          <p:nvPr/>
        </p:nvSpPr>
        <p:spPr>
          <a:xfrm>
            <a:off x="6406538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2"/>
          <p:cNvSpPr txBox="1"/>
          <p:nvPr/>
        </p:nvSpPr>
        <p:spPr>
          <a:xfrm>
            <a:off x="12538626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2"/>
          <p:cNvSpPr txBox="1"/>
          <p:nvPr/>
        </p:nvSpPr>
        <p:spPr>
          <a:xfrm>
            <a:off x="12538626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2"/>
          <p:cNvSpPr txBox="1"/>
          <p:nvPr/>
        </p:nvSpPr>
        <p:spPr>
          <a:xfrm>
            <a:off x="12538626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2"/>
          <p:cNvSpPr txBox="1"/>
          <p:nvPr/>
        </p:nvSpPr>
        <p:spPr>
          <a:xfrm>
            <a:off x="12538626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2"/>
          <p:cNvSpPr txBox="1"/>
          <p:nvPr/>
        </p:nvSpPr>
        <p:spPr>
          <a:xfrm>
            <a:off x="12538626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2"/>
          <p:cNvSpPr txBox="1"/>
          <p:nvPr/>
        </p:nvSpPr>
        <p:spPr>
          <a:xfrm>
            <a:off x="12538626" y="916314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