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oboto ExtraLight"/>
      <p:regular r:id="rId20"/>
      <p:bold r:id="rId21"/>
      <p:italic r:id="rId22"/>
      <p:boldItalic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Roboto Medium"/>
      <p:regular r:id="rId28"/>
      <p:bold r:id="rId29"/>
      <p:italic r:id="rId30"/>
      <p:boldItalic r:id="rId31"/>
    </p:embeddedFont>
    <p:embeddedFont>
      <p:font typeface="Roboto Light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D1BC7B-D753-4765-8091-EBB0AB911633}">
  <a:tblStyle styleId="{AFD1BC7B-D753-4765-8091-EBB0AB91163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ExtraLight-regular.fntdata"/><Relationship Id="rId22" Type="http://schemas.openxmlformats.org/officeDocument/2006/relationships/font" Target="fonts/RobotoExtraLight-italic.fntdata"/><Relationship Id="rId21" Type="http://schemas.openxmlformats.org/officeDocument/2006/relationships/font" Target="fonts/RobotoExtraLight-bold.fntdata"/><Relationship Id="rId24" Type="http://schemas.openxmlformats.org/officeDocument/2006/relationships/font" Target="fonts/Roboto-regular.fntdata"/><Relationship Id="rId23" Type="http://schemas.openxmlformats.org/officeDocument/2006/relationships/font" Target="fonts/RobotoExtra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RobotoMedium-regular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edium-boldItalic.fntdata"/><Relationship Id="rId30" Type="http://schemas.openxmlformats.org/officeDocument/2006/relationships/font" Target="fonts/RobotoMedium-italic.fntdata"/><Relationship Id="rId11" Type="http://schemas.openxmlformats.org/officeDocument/2006/relationships/slide" Target="slides/slide5.xml"/><Relationship Id="rId33" Type="http://schemas.openxmlformats.org/officeDocument/2006/relationships/font" Target="fonts/RobotoLight-bold.fntdata"/><Relationship Id="rId10" Type="http://schemas.openxmlformats.org/officeDocument/2006/relationships/slide" Target="slides/slide4.xml"/><Relationship Id="rId32" Type="http://schemas.openxmlformats.org/officeDocument/2006/relationships/font" Target="fonts/RobotoLight-regular.fntdata"/><Relationship Id="rId13" Type="http://schemas.openxmlformats.org/officeDocument/2006/relationships/slide" Target="slides/slide7.xml"/><Relationship Id="rId35" Type="http://schemas.openxmlformats.org/officeDocument/2006/relationships/font" Target="fonts/RobotoLight-boldItalic.fntdata"/><Relationship Id="rId12" Type="http://schemas.openxmlformats.org/officeDocument/2006/relationships/slide" Target="slides/slide6.xml"/><Relationship Id="rId34" Type="http://schemas.openxmlformats.org/officeDocument/2006/relationships/font" Target="fonts/RobotoLight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ab18ed5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ab18ed5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ab18ed5a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ab18ed5a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743bb96b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743bb96b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743bb96be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743bb96be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743bb96be_0_5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f743bb96be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743bb96be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743bb96be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743bb96be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743bb96be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743bb96be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743bb96be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743bb96be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743bb96be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743bb96be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743bb96be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743bb96be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743bb96be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ab18ed5a2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ab18ed5a2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ab18ed5a2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ab18ed5a2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366900" y="618838"/>
            <a:ext cx="3956700" cy="8808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342900" y="618838"/>
            <a:ext cx="4004700" cy="8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b="1" sz="2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" name="Google Shape;19;p3"/>
          <p:cNvSpPr/>
          <p:nvPr/>
        </p:nvSpPr>
        <p:spPr>
          <a:xfrm>
            <a:off x="366900" y="1538488"/>
            <a:ext cx="3956700" cy="31608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342900" y="1538488"/>
            <a:ext cx="4004700" cy="3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Roboto Medium"/>
              <a:buNone/>
              <a:defRPr sz="13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oboto"/>
              <a:buNone/>
              <a:defRPr sz="12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Roboto Light"/>
              <a:buNone/>
              <a:defRPr sz="1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boto ExtraLight"/>
              <a:buNone/>
              <a:defRPr sz="10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boto ExtraLight"/>
              <a:buNone/>
              <a:defRPr sz="10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boto ExtraLight"/>
              <a:buNone/>
              <a:defRPr sz="10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boto ExtraLight"/>
              <a:buNone/>
              <a:defRPr sz="10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boto ExtraLight"/>
              <a:buNone/>
              <a:defRPr sz="10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boto ExtraLight"/>
              <a:buNone/>
              <a:defRPr sz="10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574238" y="378425"/>
            <a:ext cx="7995600" cy="6756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574163" y="378425"/>
            <a:ext cx="79956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b="1" sz="2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2" type="ftr"/>
          </p:nvPr>
        </p:nvSpPr>
        <p:spPr>
          <a:xfrm>
            <a:off x="1016745" y="3380650"/>
            <a:ext cx="6825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sldNum"/>
          </p:nvPr>
        </p:nvSpPr>
        <p:spPr>
          <a:xfrm>
            <a:off x="1824968" y="3380650"/>
            <a:ext cx="5031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574238" y="1142800"/>
            <a:ext cx="7995600" cy="36396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574238" y="1153750"/>
            <a:ext cx="3769200" cy="36177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196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4" type="sldNum"/>
          </p:nvPr>
        </p:nvSpPr>
        <p:spPr>
          <a:xfrm>
            <a:off x="5745860" y="3391600"/>
            <a:ext cx="5640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2" name="Google Shape;32;p4"/>
          <p:cNvSpPr txBox="1"/>
          <p:nvPr>
            <p:ph idx="5" type="body"/>
          </p:nvPr>
        </p:nvSpPr>
        <p:spPr>
          <a:xfrm>
            <a:off x="4343400" y="1142800"/>
            <a:ext cx="4226400" cy="36396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196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idx="11" type="ftr"/>
          </p:nvPr>
        </p:nvSpPr>
        <p:spPr>
          <a:xfrm>
            <a:off x="1512938" y="3380650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3227438" y="3380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574238" y="361100"/>
            <a:ext cx="7995600" cy="6756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574163" y="361100"/>
            <a:ext cx="79956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b="1" sz="2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8" name="Google Shape;38;p5"/>
          <p:cNvSpPr/>
          <p:nvPr/>
        </p:nvSpPr>
        <p:spPr>
          <a:xfrm>
            <a:off x="574238" y="1142800"/>
            <a:ext cx="7995600" cy="36396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574238" y="1153750"/>
            <a:ext cx="7995600" cy="36177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196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1675500" y="3707825"/>
            <a:ext cx="5793000" cy="6150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>
            <p:ph idx="2" type="pic"/>
          </p:nvPr>
        </p:nvSpPr>
        <p:spPr>
          <a:xfrm>
            <a:off x="3200394" y="15132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6" name="Google Shape;46;p6"/>
          <p:cNvSpPr txBox="1"/>
          <p:nvPr>
            <p:ph type="title"/>
          </p:nvPr>
        </p:nvSpPr>
        <p:spPr>
          <a:xfrm>
            <a:off x="1675575" y="3846500"/>
            <a:ext cx="57930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None/>
              <a:defRPr b="1" sz="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346088" y="1621263"/>
            <a:ext cx="8563800" cy="1492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"/>
          <p:cNvSpPr txBox="1"/>
          <p:nvPr>
            <p:ph type="ctrTitle"/>
          </p:nvPr>
        </p:nvSpPr>
        <p:spPr>
          <a:xfrm>
            <a:off x="346088" y="1621263"/>
            <a:ext cx="8563800" cy="14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Roboto"/>
              <a:buNone/>
              <a:defRPr b="1" sz="4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/>
          <p:nvPr/>
        </p:nvSpPr>
        <p:spPr>
          <a:xfrm>
            <a:off x="340575" y="1459769"/>
            <a:ext cx="8563800" cy="1492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1573125" y="2878619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3287625" y="2878619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4" name="Google Shape;54;p8"/>
          <p:cNvSpPr/>
          <p:nvPr/>
        </p:nvSpPr>
        <p:spPr>
          <a:xfrm rot="10800000">
            <a:off x="1393425" y="2952032"/>
            <a:ext cx="6379200" cy="731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8"/>
          <p:cNvSpPr txBox="1"/>
          <p:nvPr>
            <p:ph type="ctrTitle"/>
          </p:nvPr>
        </p:nvSpPr>
        <p:spPr>
          <a:xfrm>
            <a:off x="340575" y="1459769"/>
            <a:ext cx="8563800" cy="14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Roboto"/>
              <a:buNone/>
              <a:defRPr b="1" sz="4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" type="subTitle"/>
          </p:nvPr>
        </p:nvSpPr>
        <p:spPr>
          <a:xfrm>
            <a:off x="1393500" y="2951882"/>
            <a:ext cx="63792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"/>
              <a:buNone/>
              <a:defRPr sz="2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2475915" y="2394682"/>
            <a:ext cx="4192200" cy="354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3975" lIns="23975" spcFirstLastPara="1" rIns="23975" wrap="square" tIns="23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9"/>
          <p:cNvSpPr txBox="1"/>
          <p:nvPr>
            <p:ph type="title"/>
          </p:nvPr>
        </p:nvSpPr>
        <p:spPr>
          <a:xfrm>
            <a:off x="2475875" y="2394682"/>
            <a:ext cx="4192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75" lIns="23975" spcFirstLastPara="1" rIns="23975" wrap="square" tIns="11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oboto"/>
              <a:buNone/>
              <a:defRPr b="1" sz="14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9pPr>
          </a:lstStyle>
          <a:p/>
        </p:txBody>
      </p:sp>
      <p:sp>
        <p:nvSpPr>
          <p:cNvPr id="60" name="Google Shape;60;p9"/>
          <p:cNvSpPr/>
          <p:nvPr/>
        </p:nvSpPr>
        <p:spPr>
          <a:xfrm>
            <a:off x="379800" y="189325"/>
            <a:ext cx="4192200" cy="2156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379800" y="189325"/>
            <a:ext cx="4192200" cy="21561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196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2" name="Google Shape;62;p9"/>
          <p:cNvSpPr/>
          <p:nvPr/>
        </p:nvSpPr>
        <p:spPr>
          <a:xfrm>
            <a:off x="4572000" y="189325"/>
            <a:ext cx="4192200" cy="21561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4571958" y="189311"/>
            <a:ext cx="4192200" cy="21561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196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85750" lvl="1" marL="9144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85750" lvl="3" marL="18288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85750" lvl="4" marL="22860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85750" lvl="5" marL="27432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85750" lvl="6" marL="32004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85750" lvl="7" marL="36576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85750" lvl="8" marL="41148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4" name="Google Shape;64;p9"/>
          <p:cNvSpPr/>
          <p:nvPr/>
        </p:nvSpPr>
        <p:spPr>
          <a:xfrm>
            <a:off x="379800" y="2798088"/>
            <a:ext cx="4192200" cy="2156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9"/>
          <p:cNvSpPr txBox="1"/>
          <p:nvPr>
            <p:ph idx="3" type="body"/>
          </p:nvPr>
        </p:nvSpPr>
        <p:spPr>
          <a:xfrm>
            <a:off x="379800" y="2798088"/>
            <a:ext cx="4192200" cy="21561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196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6" name="Google Shape;66;p9"/>
          <p:cNvSpPr/>
          <p:nvPr/>
        </p:nvSpPr>
        <p:spPr>
          <a:xfrm>
            <a:off x="4572000" y="2798088"/>
            <a:ext cx="4192200" cy="21561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9"/>
          <p:cNvSpPr txBox="1"/>
          <p:nvPr>
            <p:ph idx="4" type="body"/>
          </p:nvPr>
        </p:nvSpPr>
        <p:spPr>
          <a:xfrm>
            <a:off x="4571958" y="2798074"/>
            <a:ext cx="4192200" cy="21561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196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85750" lvl="1" marL="9144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85750" lvl="3" marL="18288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85750" lvl="4" marL="22860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85750" lvl="5" marL="27432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85750" lvl="6" marL="32004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85750" lvl="7" marL="36576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85750" lvl="8" marL="41148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>
              <a:spcBef>
                <a:spcPts val="30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>
              <a:spcBef>
                <a:spcPts val="2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>
              <a:spcBef>
                <a:spcPts val="2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71" name="Google Shape;71;p10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>
              <a:spcBef>
                <a:spcPts val="30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>
              <a:spcBef>
                <a:spcPts val="2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>
              <a:spcBef>
                <a:spcPts val="2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1pPr>
            <a:lvl2pPr indent="-317500" lvl="1" marL="914400"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indent="-304800" lvl="2" marL="1371600"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3pPr>
            <a:lvl4pPr indent="-292100" lvl="3" marL="1828800">
              <a:spcBef>
                <a:spcPts val="200"/>
              </a:spcBef>
              <a:spcAft>
                <a:spcPts val="0"/>
              </a:spcAft>
              <a:buSzPts val="1000"/>
              <a:buChar char="–"/>
              <a:defRPr/>
            </a:lvl4pPr>
            <a:lvl5pPr indent="-292100" lvl="4" marL="2286000">
              <a:spcBef>
                <a:spcPts val="200"/>
              </a:spcBef>
              <a:spcAft>
                <a:spcPts val="0"/>
              </a:spcAft>
              <a:buSzPts val="1000"/>
              <a:buChar char="»"/>
              <a:defRPr/>
            </a:lvl5pPr>
            <a:lvl6pPr indent="-292100" lvl="5" marL="27432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6pPr>
            <a:lvl7pPr indent="-292100" lvl="6" marL="32004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7pPr>
            <a:lvl8pPr indent="-292100" lvl="7" marL="36576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8pPr>
            <a:lvl9pPr indent="-292100" lvl="8" marL="41148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_1">
  <p:cSld name="TITLE_ONLY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5" name="Google Shape;85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" name="Google Shape;90;p15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»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1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1">
  <p:cSld name="SECTION_HEADER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" name="Google Shape;94;p1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1" title="Fond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39152" cy="51434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7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/>
          <p:nvPr/>
        </p:nvSpPr>
        <p:spPr>
          <a:xfrm>
            <a:off x="1266200" y="2220250"/>
            <a:ext cx="544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7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r>
              <a:rPr lang="es" sz="2771"/>
              <a:t> Sección A</a:t>
            </a:r>
            <a:endParaRPr b="0" i="0" sz="2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1574556" y="3147171"/>
            <a:ext cx="5084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17"/>
              <a:t>Diego Felipe Cali Morales</a:t>
            </a:r>
            <a:endParaRPr b="0" i="0" sz="2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2" name="Google Shape;102;p17"/>
          <p:cNvGraphicFramePr/>
          <p:nvPr/>
        </p:nvGraphicFramePr>
        <p:xfrm>
          <a:off x="5231045" y="10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{AFD1BC7B-D753-4765-8091-EBB0AB911633}</a:tableStyleId>
              </a:tblPr>
              <a:tblGrid>
                <a:gridCol w="1504050"/>
                <a:gridCol w="2152100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s" sz="1200"/>
                        <a:t>18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" sz="1200"/>
                        <a:t>08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</a:t>
                      </a:r>
                      <a:r>
                        <a:rPr lang="es" sz="1200"/>
                        <a:t>26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17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s" sz="1200"/>
                        <a:t>20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ctrTitle"/>
          </p:nvPr>
        </p:nvSpPr>
        <p:spPr>
          <a:xfrm>
            <a:off x="340575" y="1459769"/>
            <a:ext cx="8563800" cy="14922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Implementación de tipos Compuestos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42900" y="618838"/>
            <a:ext cx="4004700" cy="880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Anuncios</a:t>
            </a:r>
            <a:endParaRPr/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42900" y="1538488"/>
            <a:ext cx="4004700" cy="31998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/>
              <a:t>Ejemplos del repositorio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/>
              <a:t>Foro semanal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/>
              <a:t>Hoja de calificación proyecto 1</a:t>
            </a:r>
            <a:endParaRPr/>
          </a:p>
        </p:txBody>
      </p:sp>
      <p:sp>
        <p:nvSpPr>
          <p:cNvPr id="114" name="Google Shape;114;p19"/>
          <p:cNvSpPr/>
          <p:nvPr/>
        </p:nvSpPr>
        <p:spPr>
          <a:xfrm>
            <a:off x="4712950" y="696750"/>
            <a:ext cx="3937800" cy="3984900"/>
          </a:xfrm>
          <a:prstGeom prst="ellipse">
            <a:avLst/>
          </a:prstGeom>
          <a:solidFill>
            <a:srgbClr val="EEECE1"/>
          </a:solidFill>
          <a:ln cap="flat" cmpd="sng" w="47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800" lIns="45800" spcFirstLastPara="1" rIns="45800" wrap="square" tIns="4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1"/>
              <a:buFont typeface="Arial"/>
              <a:buNone/>
            </a:pPr>
            <a:r>
              <a:t/>
            </a:r>
            <a:endParaRPr b="0" i="0" sz="7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9"/>
          <p:cNvSpPr/>
          <p:nvPr/>
        </p:nvSpPr>
        <p:spPr>
          <a:xfrm flipH="1">
            <a:off x="4775339" y="843507"/>
            <a:ext cx="3808053" cy="3696417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42900" y="618838"/>
            <a:ext cx="4004700" cy="880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342900" y="1538488"/>
            <a:ext cx="4004700" cy="31998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-311150" lvl="0" marL="457200" rtl="0" algn="l">
              <a:spcBef>
                <a:spcPts val="20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Arreglos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Matrices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Structs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Paso de argumentos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574163" y="378425"/>
            <a:ext cx="79956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s"/>
              <a:t>Competencias y Valor de la Semana</a:t>
            </a:r>
            <a:endParaRPr/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574238" y="1153750"/>
            <a:ext cx="3769200" cy="3617700"/>
          </a:xfrm>
          <a:prstGeom prst="rect">
            <a:avLst/>
          </a:prstGeom>
          <a:solidFill>
            <a:srgbClr val="394C60">
              <a:alpha val="780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200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Competencias: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Analiza la semántica de un lenguaje de programación mediante la validación de tipos, alcance y estructuras de control para determinar la corrección de expresiones y sentencias.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1"/>
          <p:cNvSpPr txBox="1"/>
          <p:nvPr>
            <p:ph idx="5" type="body"/>
          </p:nvPr>
        </p:nvSpPr>
        <p:spPr>
          <a:xfrm>
            <a:off x="4343400" y="1142800"/>
            <a:ext cx="4226400" cy="3639600"/>
          </a:xfrm>
          <a:prstGeom prst="rect">
            <a:avLst/>
          </a:prstGeom>
          <a:solidFill>
            <a:srgbClr val="394C60">
              <a:alpha val="780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200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Valor de la Semana: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</a:pPr>
            <a:r>
              <a:rPr i="1" lang="es">
                <a:latin typeface="Roboto"/>
                <a:ea typeface="Roboto"/>
                <a:cs typeface="Roboto"/>
                <a:sym typeface="Roboto"/>
              </a:rPr>
              <a:t>Precisión y atención al detalle</a:t>
            </a: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type="title"/>
          </p:nvPr>
        </p:nvSpPr>
        <p:spPr>
          <a:xfrm>
            <a:off x="574163" y="361100"/>
            <a:ext cx="7995600" cy="675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Arreglos</a:t>
            </a:r>
            <a:endParaRPr/>
          </a:p>
        </p:txBody>
      </p:sp>
      <p:sp>
        <p:nvSpPr>
          <p:cNvPr id="134" name="Google Shape;134;p22"/>
          <p:cNvSpPr txBox="1"/>
          <p:nvPr>
            <p:ph idx="1" type="body"/>
          </p:nvPr>
        </p:nvSpPr>
        <p:spPr>
          <a:xfrm>
            <a:off x="574249" y="1153750"/>
            <a:ext cx="7374900" cy="36177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 lnSpcReduction="10000"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Necesitamos una producción recursiva que permita construir una lista a partir de uno o más elementos, por ejemplo la gramática de una lista.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Además, necesitamos una estructura que represente un arreglo dentro del intérprete.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Esta estructura debe permitir: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20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Almacenar sus elementos.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Representar arreglos anidados.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Acceder a elementos mediante índices.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Modificar elementos.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Obtener información sobre sus dimensiones.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Podemos reutilizar las estructuras de datos del lenguaje anfitrión para almacenar internamente los elementos.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6025" y="2400188"/>
            <a:ext cx="2935800" cy="134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574163" y="361100"/>
            <a:ext cx="7995600" cy="675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Reglas semánticas</a:t>
            </a:r>
            <a:endParaRPr/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574238" y="1153750"/>
            <a:ext cx="7995600" cy="36177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Necesitamos un mecanismo de verificación que compruebe: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20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Homogeneidad de tipos.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Consistencia de las dimensiones.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Forma regular de las matrices.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Tipo de los índices.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Cantidad de dimensiones utilizadas en un acceso.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Compatibilidad entre arreglos y parámetros de funciones.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574163" y="361100"/>
            <a:ext cx="7995600" cy="675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Matrices</a:t>
            </a:r>
            <a:endParaRPr/>
          </a:p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574238" y="1153750"/>
            <a:ext cx="7995600" cy="36177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Una matriz puede verse como un arreglo cuyos elementos son otros arreglos.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La recursividad permite reutilizar la misma estructura de los arreglos para construir niveles adicionales. No necesitamos crear una estructura completamente nueva para las matrices.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Si nuestro arreglo ya permite que sus elementos sean valores de cualquier tipo todos iguales entre sí, podemos permitir que uno de esos valores sea otro arreglo.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24"/>
          <p:cNvPicPr preferRelativeResize="0"/>
          <p:nvPr/>
        </p:nvPicPr>
        <p:blipFill rotWithShape="1">
          <a:blip r:embed="rId3">
            <a:alphaModFix/>
          </a:blip>
          <a:srcRect b="0" l="0" r="35082" t="0"/>
          <a:stretch/>
        </p:blipFill>
        <p:spPr>
          <a:xfrm>
            <a:off x="3640850" y="1485075"/>
            <a:ext cx="1862395" cy="108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574163" y="361100"/>
            <a:ext cx="7995600" cy="675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Structs</a:t>
            </a:r>
            <a:endParaRPr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574238" y="1153750"/>
            <a:ext cx="7995600" cy="36177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Sintaxis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Primero debemos determinar cómo se escribe la característica en el lenguaje.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20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¿Qué necesitamos agregar al lenguaje 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>
                <a:latin typeface="Roboto"/>
                <a:ea typeface="Roboto"/>
                <a:cs typeface="Roboto"/>
                <a:sym typeface="Roboto"/>
              </a:rPr>
              <a:t>para poder escribir un struct?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¿Necesitamos nuevos tokens o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>
                <a:latin typeface="Roboto"/>
                <a:ea typeface="Roboto"/>
                <a:cs typeface="Roboto"/>
                <a:sym typeface="Roboto"/>
              </a:rPr>
              <a:t>podemos reutilizar algunos existentes?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¿Qué nodos del AST necesitaríamos?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¿Podríamos representar un struct 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>
                <a:latin typeface="Roboto"/>
                <a:ea typeface="Roboto"/>
                <a:cs typeface="Roboto"/>
                <a:sym typeface="Roboto"/>
              </a:rPr>
              <a:t>utilizando nodos que ya tenemos?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5" name="Google Shape;1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6650" y="2747550"/>
            <a:ext cx="2610550" cy="14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574163" y="378425"/>
            <a:ext cx="7995600" cy="675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Structs</a:t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574238" y="1153750"/>
            <a:ext cx="3769200" cy="36177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 lnSpcReduction="20000"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Semántica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Después debemos determinar qué significa esa construcción y qué reglas debe cumplir.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20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¿Qué reglas debería cumplir un struct?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¿Dónde deberíamos comprobar que un campo existe?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¿Dónde deberíamos comprobar que el tipo asignado a un campo es correcto?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¿Qué ocurre si dos campos tienen el mismo nombre?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¿Podemos declarar un struct dentro de otro struct?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6"/>
          <p:cNvSpPr txBox="1"/>
          <p:nvPr>
            <p:ph idx="5" type="body"/>
          </p:nvPr>
        </p:nvSpPr>
        <p:spPr>
          <a:xfrm>
            <a:off x="4343400" y="1142800"/>
            <a:ext cx="4226400" cy="36396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Ejecución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Finalmente debemos determinar cómo se comporta la característica durante la ejecución.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6775" y="2473875"/>
            <a:ext cx="2239625" cy="230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574163" y="378425"/>
            <a:ext cx="7995600" cy="675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Paso de parámetros</a:t>
            </a:r>
            <a:endParaRPr/>
          </a:p>
        </p:txBody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574238" y="1153750"/>
            <a:ext cx="3769200" cy="36177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Por valor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>
                <a:latin typeface="Roboto"/>
                <a:ea typeface="Roboto"/>
                <a:cs typeface="Roboto"/>
                <a:sym typeface="Roboto"/>
              </a:rPr>
              <a:t>Características: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20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El parámetro tiene su propio valor.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Modificar el parámetro no modifica directamente el argumento.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Es un modelo sencillo de razonar.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Puede implicar copias de estructuras grandes, dependiendo del lenguaje.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7"/>
          <p:cNvSpPr txBox="1"/>
          <p:nvPr>
            <p:ph idx="5" type="body"/>
          </p:nvPr>
        </p:nvSpPr>
        <p:spPr>
          <a:xfrm>
            <a:off x="4343400" y="1142800"/>
            <a:ext cx="4226400" cy="36396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Por referencia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Características: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20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El parámetro puede modificar el argumento original.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No necesariamente se crea una copia del objeto.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Es especialmente relevante para estructuras mutables como arreglos, matrices y structs.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Requiere definir claramente qué puede recibir una referencia y cómo se almacena.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/>
        </p:nvSpPr>
        <p:spPr>
          <a:xfrm>
            <a:off x="2036488" y="882462"/>
            <a:ext cx="5071025" cy="3378571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/>
          <p:nvPr/>
        </p:nvSpPr>
        <p:spPr>
          <a:xfrm>
            <a:off x="1011110" y="347186"/>
            <a:ext cx="7121769" cy="4449128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