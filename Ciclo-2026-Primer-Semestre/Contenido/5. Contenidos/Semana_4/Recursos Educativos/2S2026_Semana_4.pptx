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10287000" cx="18288000"/>
  <p:notesSz cx="6858000" cy="9144000"/>
  <p:embeddedFontLst>
    <p:embeddedFont>
      <p:font typeface="Roboto ExtraLight"/>
      <p:regular r:id="rId25"/>
      <p:bold r:id="rId26"/>
      <p:italic r:id="rId27"/>
      <p:boldItalic r:id="rId28"/>
    </p:embeddedFont>
    <p:embeddedFont>
      <p:font typeface="Roboto"/>
      <p:regular r:id="rId29"/>
      <p:bold r:id="rId30"/>
      <p:italic r:id="rId31"/>
      <p:boldItalic r:id="rId32"/>
    </p:embeddedFont>
    <p:embeddedFont>
      <p:font typeface="Roboto Medium"/>
      <p:regular r:id="rId33"/>
      <p:bold r:id="rId34"/>
      <p:italic r:id="rId35"/>
      <p:boldItalic r:id="rId36"/>
    </p:embeddedFont>
    <p:embeddedFont>
      <p:font typeface="Roboto Light"/>
      <p:regular r:id="rId37"/>
      <p:bold r:id="rId38"/>
      <p:italic r:id="rId39"/>
      <p:boldItalic r:id="rId40"/>
    </p:embeddedFont>
    <p:embeddedFont>
      <p:font typeface="Open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j8DRupTl+CSyB1Acmr90mxDvUG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3A4F15-B7B5-4E57-9BD1-D3686D1794DB}">
  <a:tblStyle styleId="{4F3A4F15-B7B5-4E57-9BD1-D3686D1794D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Light-bold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bold.fntdata"/><Relationship Id="rId41" Type="http://schemas.openxmlformats.org/officeDocument/2006/relationships/font" Target="fonts/OpenSans-regular.fntdata"/><Relationship Id="rId22" Type="http://schemas.openxmlformats.org/officeDocument/2006/relationships/slide" Target="slides/slide16.xml"/><Relationship Id="rId44" Type="http://schemas.openxmlformats.org/officeDocument/2006/relationships/font" Target="fonts/Open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ExtraLight-bold.fntdata"/><Relationship Id="rId25" Type="http://schemas.openxmlformats.org/officeDocument/2006/relationships/font" Target="fonts/RobotoExtraLight-regular.fntdata"/><Relationship Id="rId28" Type="http://schemas.openxmlformats.org/officeDocument/2006/relationships/font" Target="fonts/RobotoExtraLight-boldItalic.fntdata"/><Relationship Id="rId27" Type="http://schemas.openxmlformats.org/officeDocument/2006/relationships/font" Target="fonts/RobotoExtra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RobotoMedium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edium-italic.fntdata"/><Relationship Id="rId12" Type="http://schemas.openxmlformats.org/officeDocument/2006/relationships/slide" Target="slides/slide6.xml"/><Relationship Id="rId34" Type="http://schemas.openxmlformats.org/officeDocument/2006/relationships/font" Target="fonts/RobotoMedium-bold.fntdata"/><Relationship Id="rId15" Type="http://schemas.openxmlformats.org/officeDocument/2006/relationships/slide" Target="slides/slide9.xml"/><Relationship Id="rId37" Type="http://schemas.openxmlformats.org/officeDocument/2006/relationships/font" Target="fonts/RobotoLight-regular.fntdata"/><Relationship Id="rId14" Type="http://schemas.openxmlformats.org/officeDocument/2006/relationships/slide" Target="slides/slide8.xml"/><Relationship Id="rId36" Type="http://schemas.openxmlformats.org/officeDocument/2006/relationships/font" Target="fonts/RobotoMedium-boldItalic.fntdata"/><Relationship Id="rId17" Type="http://schemas.openxmlformats.org/officeDocument/2006/relationships/slide" Target="slides/slide11.xml"/><Relationship Id="rId39" Type="http://schemas.openxmlformats.org/officeDocument/2006/relationships/font" Target="fonts/RobotoLight-italic.fntdata"/><Relationship Id="rId16" Type="http://schemas.openxmlformats.org/officeDocument/2006/relationships/slide" Target="slides/slide10.xml"/><Relationship Id="rId38" Type="http://schemas.openxmlformats.org/officeDocument/2006/relationships/font" Target="fonts/RobotoLight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" name="Google Shape;8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701eccfd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9a701eccf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a701eccfd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9a701eccf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a701eccfd_0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9a701eccfd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701eccfd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9a701ecc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adb85c1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9aadb85c1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adb85c1c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aadb85c1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aadb85c1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aadb85c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ae1c280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aae1c280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701eccfd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9a701eccfd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a701eccfd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9a701eccf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701eccfd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9a701eccf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a701eccfd_0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9a701ecc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a701eccfd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a701eccf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9a701eccfd_0_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39a701eccfd_0_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a701eccfd_0_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9a701eccfd_0_25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9a701eccfd_0_25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a701eccfd_0_25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9a701eccfd_0_25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9a701eccfd_0_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9a701eccfd_0_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g39a701eccfd_0_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g39a701eccfd_0_30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9a701eccfd_0_30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g39a701eccfd_0_30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a701eccfd_0_30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g39a701eccfd_0_30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9a701eccfd_0_30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31" name="Google Shape;31;g39a701eccfd_0_30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g39a701eccfd_0_30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a701eccfd_0_18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a701eccfd_0_18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g39a701eccfd_0_18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9a701eccfd_0_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a701eccfd_0_18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9a701eccfd_0_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a701eccfd_0_5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9a701eccfd_0_5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a701eccfd_0_11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9a701eccfd_0_11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g39a701eccfd_0_11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g39a701eccfd_0_11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9a701eccfd_0_11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g39a701eccfd_0_11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701eccfd_0_4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39a701eccfd_0_4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g39a701eccfd_0_4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9a701eccfd_0_4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g39a701eccfd_0_4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9a701eccfd_0_4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g39a701eccfd_0_4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9a701eccfd_0_4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g39a701eccfd_0_4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9a701eccfd_0_4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701eccfd_0_56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9a701eccfd_0_56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9a701eccfd_0_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9a701eccfd_0_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9a701eccfd_0_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g39a701eccfd_0_56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a701eccfd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9a701eccfd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a701eccfd_0_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a701eccfd_0_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a701eccfd_0_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g39a701eccfd_0_0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document/d/1g_ivD1_t3vZfzuFf_OAy_ECOEum1Qe3F/edit?usp=sharing&amp;ouid=114261064498700579036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/>
          <p:nvPr/>
        </p:nvSpPr>
        <p:spPr>
          <a:xfrm>
            <a:off x="1969850" y="3030151"/>
            <a:ext cx="15055872" cy="3260981"/>
          </a:xfrm>
          <a:custGeom>
            <a:rect b="b" l="l" r="r" t="t"/>
            <a:pathLst>
              <a:path extrusionOk="0" h="1811656" w="9002016">
                <a:moveTo>
                  <a:pt x="0" y="0"/>
                </a:moveTo>
                <a:lnTo>
                  <a:pt x="9002016" y="0"/>
                </a:lnTo>
                <a:lnTo>
                  <a:pt x="9002016" y="1811656"/>
                </a:lnTo>
                <a:lnTo>
                  <a:pt x="0" y="1811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p1"/>
          <p:cNvSpPr txBox="1"/>
          <p:nvPr/>
        </p:nvSpPr>
        <p:spPr>
          <a:xfrm>
            <a:off x="5792539" y="4770907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 txBox="1"/>
          <p:nvPr/>
        </p:nvSpPr>
        <p:spPr>
          <a:xfrm>
            <a:off x="348639" y="9201150"/>
            <a:ext cx="4067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i="0" lang="en-US" sz="314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NOMBRE DEL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904225" y="3801950"/>
            <a:ext cx="13187100" cy="14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2890375" y="24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{4F3A4F15-B7B5-4E57-9BD1-D3686D1794DB}</a:tableStyleId>
              </a:tblPr>
              <a:tblGrid>
                <a:gridCol w="1163525"/>
                <a:gridCol w="2498875"/>
              </a:tblGrid>
              <a:tr h="61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b="1" lang="en-US" sz="23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DD/MM/2026</a:t>
                      </a:r>
                      <a:endParaRPr b="1" sz="2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2"/>
          <p:cNvSpPr txBox="1"/>
          <p:nvPr/>
        </p:nvSpPr>
        <p:spPr>
          <a:xfrm>
            <a:off x="6204049" y="3190240"/>
            <a:ext cx="5880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UNIDAD </a:t>
            </a:r>
            <a:r>
              <a:rPr b="1" lang="en-US" sz="8799"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4791300" y="4646550"/>
            <a:ext cx="83298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lang="en-US" sz="7200">
                <a:latin typeface="Open Sans"/>
                <a:ea typeface="Open Sans"/>
                <a:cs typeface="Open Sans"/>
                <a:sym typeface="Open Sans"/>
              </a:rPr>
              <a:t>Análisis Semántico</a:t>
            </a:r>
            <a:endParaRPr b="1" i="0" sz="7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a701eccfd_0_64"/>
          <p:cNvSpPr/>
          <p:nvPr/>
        </p:nvSpPr>
        <p:spPr>
          <a:xfrm>
            <a:off x="9551100" y="1166550"/>
            <a:ext cx="7860000" cy="7953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g39a701eccfd_0_64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Anuncios Importantes</a:t>
            </a:r>
            <a:endParaRPr/>
          </a:p>
        </p:txBody>
      </p:sp>
      <p:sp>
        <p:nvSpPr>
          <p:cNvPr id="91" name="Google Shape;91;g39a701eccfd_0_64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/>
          </a:p>
        </p:txBody>
      </p:sp>
      <p:sp>
        <p:nvSpPr>
          <p:cNvPr id="92" name="Google Shape;92;g39a701eccfd_0_64"/>
          <p:cNvSpPr/>
          <p:nvPr/>
        </p:nvSpPr>
        <p:spPr>
          <a:xfrm flipH="1">
            <a:off x="9146601" y="1554800"/>
            <a:ext cx="7591298" cy="7368025"/>
          </a:xfrm>
          <a:custGeom>
            <a:rect b="b" l="l" r="r" t="t"/>
            <a:pathLst>
              <a:path extrusionOk="0" h="4961633" w="4961633">
                <a:moveTo>
                  <a:pt x="0" y="0"/>
                </a:moveTo>
                <a:lnTo>
                  <a:pt x="4961633" y="0"/>
                </a:lnTo>
                <a:lnTo>
                  <a:pt x="4961633" y="4961632"/>
                </a:lnTo>
                <a:lnTo>
                  <a:pt x="0" y="49616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a701eccfd_0_72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8" name="Google Shape;98;g39a701eccfd_0_72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Tipado Dinámico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Expresiones y Sentencias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Estructuras de Control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Recuperación de Errores		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Ejemplo Práctico</a:t>
            </a:r>
            <a:endParaRPr/>
          </a:p>
          <a:p>
            <a:pPr indent="-3873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/>
              <a:t>Actividad</a:t>
            </a:r>
            <a:endParaRPr/>
          </a:p>
        </p:txBody>
      </p:sp>
      <p:pic>
        <p:nvPicPr>
          <p:cNvPr descr="spongebob wearing glasses is reading a book titled field guide (proporcionada por Tenor)" id="99" name="Google Shape;99;g39a701eccfd_0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85700" y="2714500"/>
            <a:ext cx="8640300" cy="4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701eccfd_0_102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Competencias y Valor de la Semana</a:t>
            </a:r>
            <a:endParaRPr/>
          </a:p>
        </p:txBody>
      </p:sp>
      <p:sp>
        <p:nvSpPr>
          <p:cNvPr id="105" name="Google Shape;105;g39a701eccfd_0_102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Competencias: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Analiza la semántica de un lenguaje de programación mediante la validación de tipos, alcance y estructuras de control para determinar la corrección de expresiones y sentencias 						</a:t>
            </a:r>
            <a:endParaRPr/>
          </a:p>
        </p:txBody>
      </p:sp>
      <p:sp>
        <p:nvSpPr>
          <p:cNvPr id="106" name="Google Shape;106;g39a701eccfd_0_102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Valor de la Semana: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i="1" lang="en-US"/>
              <a:t>Ética en la Gestión de Errores y Robustez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701eccfd_0_10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Tipado Dinámico</a:t>
            </a:r>
            <a:endParaRPr/>
          </a:p>
        </p:txBody>
      </p:sp>
      <p:sp>
        <p:nvSpPr>
          <p:cNvPr id="112" name="Google Shape;112;g39a701eccfd_0_108"/>
          <p:cNvSpPr txBox="1"/>
          <p:nvPr>
            <p:ph idx="1" type="body"/>
          </p:nvPr>
        </p:nvSpPr>
        <p:spPr>
          <a:xfrm>
            <a:off x="1148475" y="2307500"/>
            <a:ext cx="14995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La inferencia de tipos consiste en deducir automáticamente el tipo de variables y funciones a partir de cómo se usan en el programa.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/>
              <a:t>El proceso general 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Crear variables de tipo nuevas.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Analizar expresiones y aplicaciones de funciones.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Inferir restricciones entre tipos.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Unificar tipos compatibles.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Generalizar variables libres con ∀.</a:t>
            </a:r>
            <a:endParaRPr/>
          </a:p>
        </p:txBody>
      </p:sp>
      <p:pic>
        <p:nvPicPr>
          <p:cNvPr id="113" name="Google Shape;113;g39a701eccfd_0_108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2225" y="5489825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aadb85c1c_0_17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Algorítmo Hindley-Milner para tipado dinámico</a:t>
            </a:r>
            <a:endParaRPr/>
          </a:p>
        </p:txBody>
      </p:sp>
      <p:pic>
        <p:nvPicPr>
          <p:cNvPr id="119" name="Google Shape;119;g39aadb85c1c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5800" y="3782613"/>
            <a:ext cx="15220650" cy="272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aadb85c1c_0_2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Expresiones y Sentencias</a:t>
            </a:r>
            <a:endParaRPr/>
          </a:p>
        </p:txBody>
      </p:sp>
      <p:sp>
        <p:nvSpPr>
          <p:cNvPr id="125" name="Google Shape;125;g39aadb85c1c_0_2"/>
          <p:cNvSpPr txBox="1"/>
          <p:nvPr>
            <p:ph idx="1" type="body"/>
          </p:nvPr>
        </p:nvSpPr>
        <p:spPr>
          <a:xfrm>
            <a:off x="1148475" y="2307500"/>
            <a:ext cx="8057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Una expresión es una combinación de valores, variables y operadores que produce un resultado. Siempre “devuelve algo”.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Una sentencia es una instrucción completa que realiza una acción. Puede incluir expresiones, pero no necesariamente devuelve un valor.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En un analizador sintáctico (parser), las sentencias están en un nivel más alto que las expresiones. Es decir: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Una sentencia es una instrucción completa del programa.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Una expresión es una parte que produce un valor y suele estar dentro de una sentencia.</a:t>
            </a:r>
            <a:endParaRPr/>
          </a:p>
        </p:txBody>
      </p:sp>
      <p:pic>
        <p:nvPicPr>
          <p:cNvPr id="126" name="Google Shape;126;g39aadb85c1c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2350" y="3141738"/>
            <a:ext cx="6659675" cy="55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adb85c1c_0_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Estructuras de Control</a:t>
            </a:r>
            <a:endParaRPr/>
          </a:p>
        </p:txBody>
      </p:sp>
      <p:sp>
        <p:nvSpPr>
          <p:cNvPr id="132" name="Google Shape;132;g39aadb85c1c_0_7"/>
          <p:cNvSpPr txBox="1"/>
          <p:nvPr>
            <p:ph idx="1" type="body"/>
          </p:nvPr>
        </p:nvSpPr>
        <p:spPr>
          <a:xfrm>
            <a:off x="1148475" y="2307500"/>
            <a:ext cx="79392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Las estructuras de control son construcciones del lenguaje que determinan el flujo de ejecución del programa.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En un compilador, el análisis sintáctico las trata como sentencias compuestas que contienen condiciones, bloques y otras sentencias.</a:t>
            </a:r>
            <a:endParaRPr/>
          </a:p>
        </p:txBody>
      </p:sp>
      <p:pic>
        <p:nvPicPr>
          <p:cNvPr id="133" name="Google Shape;133;g39aadb85c1c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1275" y="4174825"/>
            <a:ext cx="6815850" cy="350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aae1c2800_0_4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Recuperación de Errores</a:t>
            </a:r>
            <a:endParaRPr/>
          </a:p>
        </p:txBody>
      </p:sp>
      <p:sp>
        <p:nvSpPr>
          <p:cNvPr id="139" name="Google Shape;139;g39aae1c2800_0_4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Cuando un analizador sintáctico detecta un error, debe decidir cómo continuar el análisis sin detener todo el proceso.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El objetivo es evitar que un solo error genere muchos errores falsos posteriores y mantener información útil para el programador.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 Modo de pánico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Es la estrategia más simple y robusta.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El parser, al encontrar un error: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descarta tokens de entrada uno por uno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hasta encontrar un token de sincronización (por ejemplo ;, } o ))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aae1c2800_0_4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 Recuperación a nivel de frase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Consiste en hacer correcciones locales sobre la entrada.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Cuando ocurre un error: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se intenta corregir la cadena cercana al error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insertando, eliminando o reemplazando símbolos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3. Producciones de error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Se amplía la gramática para incluir errores comunes.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Se agregan reglas especiales como: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“faltó punto y coma”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“expresión inválida”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a701eccfd_0_113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Conceptos clave</a:t>
            </a:r>
            <a:endParaRPr/>
          </a:p>
        </p:txBody>
      </p:sp>
      <p:sp>
        <p:nvSpPr>
          <p:cNvPr id="146" name="Google Shape;146;g39a701eccfd_0_113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Tipado dinámico: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Inferencia automática del tipo de variables y expresiones a partir de su uso en el programa.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Algoritmo Hindley-Milner: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Sistema de inferencia de tipos basado en creación de variables de tipo, restricciones y unificación.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Expresiones: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Construcciones que combinan valores y operadores y siempre producen un resultado.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Sentencias: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Instrucciones completas del programa que realizan acciones y pueden contener expresiones.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Jerarquía expresiones vs sentencias: 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Las expresiones son componentes de las sentencias; las sentencias controlan la estructura del programa.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Estructuras de control: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Construcciones que determinan el flujo de ejecución del programa (if, while, for).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Modo de pánico:</a:t>
            </a:r>
            <a:r>
              <a:rPr lang="en-US">
                <a:latin typeface="Roboto"/>
                <a:ea typeface="Roboto"/>
                <a:cs typeface="Roboto"/>
                <a:sym typeface="Roboto"/>
              </a:rPr>
              <a:t> Estrategia de recuperación que descarta tokens hasta encontrar un símbolo de sincronización.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a701eccfd_0_118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Referencias</a:t>
            </a:r>
            <a:endParaRPr/>
          </a:p>
        </p:txBody>
      </p:sp>
      <p:sp>
        <p:nvSpPr>
          <p:cNvPr id="152" name="Google Shape;152;g39a701eccfd_0_118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Aho, A. V., Lam, M. S., Sethi, R., &amp; Ullman, J. D. (2008). Compiladores: Principios, técnicas y herramientas (2.ª ed.). Pearson Educación.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701eccfd_0_127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Ejemplo Práctico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701eccfd_0_131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Actividad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a701eccfd_0_135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Recursos</a:t>
            </a:r>
            <a:endParaRPr/>
          </a:p>
        </p:txBody>
      </p:sp>
      <p:sp>
        <p:nvSpPr>
          <p:cNvPr id="168" name="Google Shape;168;g39a701eccfd_0_135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6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Actividad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/>
          <p:nvPr/>
        </p:nvSpPr>
        <p:spPr>
          <a:xfrm>
            <a:off x="0" y="0"/>
            <a:ext cx="18288000" cy="10264140"/>
          </a:xfrm>
          <a:custGeom>
            <a:rect b="b" l="l" r="r" t="t"/>
            <a:pathLst>
              <a:path extrusionOk="0" h="10264140" w="18288000">
                <a:moveTo>
                  <a:pt x="0" y="0"/>
                </a:moveTo>
                <a:lnTo>
                  <a:pt x="18288000" y="0"/>
                </a:lnTo>
                <a:lnTo>
                  <a:pt x="18288000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12"/>
          <p:cNvSpPr txBox="1"/>
          <p:nvPr/>
        </p:nvSpPr>
        <p:spPr>
          <a:xfrm>
            <a:off x="5655069" y="166707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5655069" y="246044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5655069" y="3475309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13953088" y="2091258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"/>
          <p:cNvSpPr txBox="1"/>
          <p:nvPr/>
        </p:nvSpPr>
        <p:spPr>
          <a:xfrm>
            <a:off x="13953088" y="288462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13953088" y="368028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2"/>
          <p:cNvSpPr txBox="1"/>
          <p:nvPr/>
        </p:nvSpPr>
        <p:spPr>
          <a:xfrm>
            <a:off x="277231" y="50863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2"/>
          <p:cNvSpPr txBox="1"/>
          <p:nvPr/>
        </p:nvSpPr>
        <p:spPr>
          <a:xfrm>
            <a:off x="277231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2"/>
          <p:cNvSpPr txBox="1"/>
          <p:nvPr/>
        </p:nvSpPr>
        <p:spPr>
          <a:xfrm>
            <a:off x="277231" y="662009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2"/>
          <p:cNvSpPr txBox="1"/>
          <p:nvPr/>
        </p:nvSpPr>
        <p:spPr>
          <a:xfrm>
            <a:off x="277231" y="760040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277231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277231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6406538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6406538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6406538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6406538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6406538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"/>
          <p:cNvSpPr txBox="1"/>
          <p:nvPr/>
        </p:nvSpPr>
        <p:spPr>
          <a:xfrm>
            <a:off x="6406538" y="920115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12538626" y="50749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12538626" y="585301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12538626" y="664866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2"/>
          <p:cNvSpPr txBox="1"/>
          <p:nvPr/>
        </p:nvSpPr>
        <p:spPr>
          <a:xfrm>
            <a:off x="12538626" y="744432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2538626" y="8367485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12538626" y="9163140"/>
            <a:ext cx="1502938" cy="481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---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