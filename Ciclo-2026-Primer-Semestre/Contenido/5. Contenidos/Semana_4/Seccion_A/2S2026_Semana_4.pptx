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Roboto ExtraLight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Roboto Medium"/>
      <p:regular r:id="rId32"/>
      <p:bold r:id="rId33"/>
      <p:italic r:id="rId34"/>
      <p:boldItalic r:id="rId35"/>
    </p:embeddedFont>
    <p:embeddedFont>
      <p:font typeface="Roboto Light"/>
      <p:regular r:id="rId36"/>
      <p:bold r:id="rId37"/>
      <p:italic r:id="rId38"/>
      <p:boldItalic r:id="rId39"/>
    </p:embeddedFont>
    <p:embeddedFont>
      <p:font typeface="Roboto Mono"/>
      <p:regular r:id="rId40"/>
      <p:bold r:id="rId41"/>
      <p:italic r:id="rId42"/>
      <p:boldItalic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8" roundtripDataSignature="AMtx7mglq02pf7KbYzhOZ7C1dDGyl0bB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21EE80-260D-4431-B123-C52FB68DC310}">
  <a:tblStyle styleId="{9421EE80-260D-4431-B123-C52FB68DC31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9E649C6-1578-4722-8BEB-35CDE66667F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6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5.xml"/><Relationship Id="rId43" Type="http://schemas.openxmlformats.org/officeDocument/2006/relationships/font" Target="fonts/RobotoMono-boldItalic.fntdata"/><Relationship Id="rId24" Type="http://schemas.openxmlformats.org/officeDocument/2006/relationships/font" Target="fonts/RobotoExtraLight-regular.fntdata"/><Relationship Id="rId46" Type="http://schemas.openxmlformats.org/officeDocument/2006/relationships/font" Target="fonts/OpenSans-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italic.fntdata"/><Relationship Id="rId48" Type="http://customschemas.google.com/relationships/presentationmetadata" Target="metadata"/><Relationship Id="rId25" Type="http://schemas.openxmlformats.org/officeDocument/2006/relationships/font" Target="fonts/RobotoExtraLight-bold.fntdata"/><Relationship Id="rId47" Type="http://schemas.openxmlformats.org/officeDocument/2006/relationships/font" Target="fonts/OpenSans-boldItalic.fntdata"/><Relationship Id="rId28" Type="http://schemas.openxmlformats.org/officeDocument/2006/relationships/font" Target="fonts/Roboto-regular.fntdata"/><Relationship Id="rId27" Type="http://schemas.openxmlformats.org/officeDocument/2006/relationships/font" Target="fonts/RobotoExtraLigh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33" Type="http://schemas.openxmlformats.org/officeDocument/2006/relationships/font" Target="fonts/RobotoMedium-bold.fntdata"/><Relationship Id="rId10" Type="http://schemas.openxmlformats.org/officeDocument/2006/relationships/slide" Target="slides/slide4.xml"/><Relationship Id="rId32" Type="http://schemas.openxmlformats.org/officeDocument/2006/relationships/font" Target="fonts/RobotoMedium-regular.fntdata"/><Relationship Id="rId13" Type="http://schemas.openxmlformats.org/officeDocument/2006/relationships/slide" Target="slides/slide7.xml"/><Relationship Id="rId35" Type="http://schemas.openxmlformats.org/officeDocument/2006/relationships/font" Target="fonts/Roboto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Medium-italic.fntdata"/><Relationship Id="rId15" Type="http://schemas.openxmlformats.org/officeDocument/2006/relationships/slide" Target="slides/slide9.xml"/><Relationship Id="rId37" Type="http://schemas.openxmlformats.org/officeDocument/2006/relationships/font" Target="fonts/RobotoLight-bold.fntdata"/><Relationship Id="rId14" Type="http://schemas.openxmlformats.org/officeDocument/2006/relationships/slide" Target="slides/slide8.xml"/><Relationship Id="rId36" Type="http://schemas.openxmlformats.org/officeDocument/2006/relationships/font" Target="fonts/RobotoLight-regular.fntdata"/><Relationship Id="rId17" Type="http://schemas.openxmlformats.org/officeDocument/2006/relationships/slide" Target="slides/slide11.xml"/><Relationship Id="rId39" Type="http://schemas.openxmlformats.org/officeDocument/2006/relationships/font" Target="fonts/RobotoLight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Ligh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3d3fcdcfc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3d3fcdcf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3d3fcdcf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3d3fcdc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3d3fcdcfc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3d3fcdcf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b8c464e8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b8c464e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3d3fcdcfc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3d3fcdcf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3d3fcdcfc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3d3fcdcf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60" name="Google Shape;60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2" name="Google Shape;62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4" name="Google Shape;64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6" name="Google Shape;66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document/d/1g_ivD1_t3vZfzuFf_OAy_ECOEum1Qe3F/edit?usp=sharing&amp;ouid=114261064498700579036&amp;rtpof=true&amp;sd=true" TargetMode="External"/><Relationship Id="rId4" Type="http://schemas.openxmlformats.org/officeDocument/2006/relationships/hyperlink" Target="https://ply.readthedocs.io/en/latest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50" y="9201150"/>
            <a:ext cx="65919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Diego Felipe Cali Morales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{9421EE80-260D-4431-B123-C52FB68DC310}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04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08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791300" y="4646550"/>
            <a:ext cx="83298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Análisis Semántico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Foro de la semana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Tarea 1</a:t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685451" y="1459488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Repaso gramáticas libres de contexto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Ejercicios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Repaso atributos sintetizados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Ejercicios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Actividad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4" name="Google Shape;104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Analiza la semántica de un lenguaje de programación mediante la validación de tipos, alcance y estructuras de control para determinar la corrección de expresiones y sentencias 						</a:t>
            </a:r>
            <a:endParaRPr/>
          </a:p>
        </p:txBody>
      </p:sp>
      <p:sp>
        <p:nvSpPr>
          <p:cNvPr id="105" name="Google Shape;105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/>
              <a:t>Ética en la Gestión de Errores y Robustez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3d3fcdcfc_0_51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Repaso gramáticas libres de contexto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3d3fcdcfc_0_0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Reconocimiento de objetos JSON </a:t>
            </a:r>
            <a:endParaRPr/>
          </a:p>
        </p:txBody>
      </p:sp>
      <p:sp>
        <p:nvSpPr>
          <p:cNvPr id="116" name="Google Shape;116;g3f3d3fcdcfc_0_0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Diseñe una gramática libre de contexto que permita reconocer objetos con una estructura similar a JSON.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Un objeto está compuesto por pares clave-valor separados por comas. Las claves serán cadenas de texto y los valores permitidos serán únicamente: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Números.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Cadenas de texto.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Otros objetos anidados.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g3f3d3fcdcf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3208" y="6247983"/>
            <a:ext cx="4529050" cy="21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f3d3fcdcf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08600" y="5478987"/>
            <a:ext cx="5255075" cy="3672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3d3fcdcfc_0_55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Repaso atributos </a:t>
            </a:r>
            <a:r>
              <a:rPr lang="en-US"/>
              <a:t>sintetizados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b8c464e87_0_0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Calculadora</a:t>
            </a:r>
            <a:endParaRPr/>
          </a:p>
        </p:txBody>
      </p:sp>
      <p:sp>
        <p:nvSpPr>
          <p:cNvPr id="129" name="Google Shape;129;g38b8c464e87_0_0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Diseñe una gramática libre de contexto que permita reconocer expresiones aritméticas utilizando números enteros y los operadores de suma (+) y multiplicación (*).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La gramática debe considerar la precedencia natural de los operadores, donde la multiplicación tiene mayor prioridad que la suma.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Entrada:</a:t>
            </a:r>
            <a:br>
              <a:rPr lang="en-US"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latin typeface="Roboto"/>
                <a:ea typeface="Roboto"/>
                <a:cs typeface="Roboto"/>
                <a:sym typeface="Roboto"/>
              </a:rPr>
              <a:t>5*4+10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8+2*6+1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Salida: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30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21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3d3fcdcfc_0_2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Familiar más lejano </a:t>
            </a:r>
            <a:endParaRPr/>
          </a:p>
        </p:txBody>
      </p:sp>
      <p:sp>
        <p:nvSpPr>
          <p:cNvPr id="135" name="Google Shape;135;g3f3d3fcdcfc_0_2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Diseñe una definición dirigida por la sintaxis utilizando únicamente atributos sintetizados que permita analizar un árbol familiar y determinar cuál es el familiar más lejano desde la persona raíz.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La distancia corresponde al número de generaciones entre la persona inicial y el familiar encontrado.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Entrada: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Juan(Maria(Ana,Luis),Pedro(Carlos))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Salida:</a:t>
            </a:r>
            <a:br>
              <a:rPr lang="en-US"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latin typeface="Roboto"/>
                <a:ea typeface="Roboto"/>
                <a:cs typeface="Roboto"/>
                <a:sym typeface="Roboto"/>
              </a:rPr>
              <a:t>Familiar más lejano: Ana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Distancia: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g3f3d3fcdcfc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6461" y="5824561"/>
            <a:ext cx="5045450" cy="31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3d3fcdcfc_0_4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Compresión simple de cadenas</a:t>
            </a:r>
            <a:endParaRPr/>
          </a:p>
        </p:txBody>
      </p:sp>
      <p:sp>
        <p:nvSpPr>
          <p:cNvPr id="142" name="Google Shape;142;g3f3d3fcdcfc_0_4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Diseñe una definición dirigida por la sintaxis utilizando únicamente atributos sintetizados que permita comprimir una cadena mediante el conteo de caracteres repetidos consecutivamente.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g3f3d3fcdcfc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491" y="5279450"/>
            <a:ext cx="3323875" cy="3171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g3f3d3fcdcfc_0_43"/>
          <p:cNvGraphicFramePr/>
          <p:nvPr/>
        </p:nvGraphicFramePr>
        <p:xfrm>
          <a:off x="7772400" y="472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{49E649C6-1578-4722-8BEB-35CDE66667F9}</a:tableStyleId>
              </a:tblPr>
              <a:tblGrid>
                <a:gridCol w="4526325"/>
                <a:gridCol w="3658250"/>
              </a:tblGrid>
              <a:tr h="106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/>
                        <a:t>Entrada</a:t>
                      </a:r>
                      <a:endParaRPr b="1" sz="3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/>
                        <a:t>Salida</a:t>
                      </a:r>
                      <a:endParaRPr b="1" sz="3200"/>
                    </a:p>
                  </a:txBody>
                  <a:tcPr marT="91425" marB="91425" marR="91425" marL="91425"/>
                </a:tc>
              </a:tr>
              <a:tr h="99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aaabbc</a:t>
                      </a:r>
                      <a:endParaRPr sz="3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a3b2c1</a:t>
                      </a:r>
                      <a:endParaRPr sz="3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68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xxxxx</a:t>
                      </a:r>
                      <a:endParaRPr sz="3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x5</a:t>
                      </a:r>
                      <a:endParaRPr sz="3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99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abbbccccaa</a:t>
                      </a:r>
                      <a:endParaRPr sz="3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a1b3c4a2</a:t>
                      </a:r>
                      <a:endParaRPr sz="3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50" name="Google Shape;150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61" name="Google Shape;161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Actividad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Documentación de PLY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