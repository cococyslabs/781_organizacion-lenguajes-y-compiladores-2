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10287000" cx="18288000"/>
  <p:notesSz cx="6858000" cy="9144000"/>
  <p:embeddedFontLst>
    <p:embeddedFont>
      <p:font typeface="Roboto ExtraLight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Roboto Light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h3EDCigC9AcBxDO6t+HkoxMmOf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F91939-2A77-44B9-ABE4-D548F02DA9F0}">
  <a:tblStyle styleId="{68F91939-2A77-44B9-ABE4-D548F02DA9F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italic.fntdata"/><Relationship Id="rId20" Type="http://schemas.openxmlformats.org/officeDocument/2006/relationships/slide" Target="slides/slide13.xml"/><Relationship Id="rId42" Type="http://schemas.openxmlformats.org/officeDocument/2006/relationships/font" Target="fonts/OpenSans-regular.fntdata"/><Relationship Id="rId41" Type="http://schemas.openxmlformats.org/officeDocument/2006/relationships/font" Target="fonts/RobotoLight-boldItalic.fntdata"/><Relationship Id="rId22" Type="http://schemas.openxmlformats.org/officeDocument/2006/relationships/slide" Target="slides/slide15.xml"/><Relationship Id="rId44" Type="http://schemas.openxmlformats.org/officeDocument/2006/relationships/font" Target="fonts/OpenSans-italic.fntdata"/><Relationship Id="rId21" Type="http://schemas.openxmlformats.org/officeDocument/2006/relationships/slide" Target="slides/slide14.xml"/><Relationship Id="rId43" Type="http://schemas.openxmlformats.org/officeDocument/2006/relationships/font" Target="fonts/OpenSans-bold.fntdata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ExtraLight-regular.fntdata"/><Relationship Id="rId25" Type="http://schemas.openxmlformats.org/officeDocument/2006/relationships/slide" Target="slides/slide18.xml"/><Relationship Id="rId28" Type="http://schemas.openxmlformats.org/officeDocument/2006/relationships/font" Target="fonts/RobotoExtraLight-italic.fntdata"/><Relationship Id="rId27" Type="http://schemas.openxmlformats.org/officeDocument/2006/relationships/font" Target="fonts/RobotoExtraLight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ExtraLigh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4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-italic.fntdata"/><Relationship Id="rId13" Type="http://schemas.openxmlformats.org/officeDocument/2006/relationships/slide" Target="slides/slide6.xml"/><Relationship Id="rId35" Type="http://schemas.openxmlformats.org/officeDocument/2006/relationships/font" Target="fonts/RobotoMedium-bold.fntdata"/><Relationship Id="rId12" Type="http://schemas.openxmlformats.org/officeDocument/2006/relationships/slide" Target="slides/slide5.xml"/><Relationship Id="rId34" Type="http://schemas.openxmlformats.org/officeDocument/2006/relationships/font" Target="fonts/RobotoMedium-regular.fntdata"/><Relationship Id="rId15" Type="http://schemas.openxmlformats.org/officeDocument/2006/relationships/slide" Target="slides/slide8.xml"/><Relationship Id="rId37" Type="http://schemas.openxmlformats.org/officeDocument/2006/relationships/font" Target="fonts/RobotoMedium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Medium-italic.fntdata"/><Relationship Id="rId17" Type="http://schemas.openxmlformats.org/officeDocument/2006/relationships/slide" Target="slides/slide10.xml"/><Relationship Id="rId39" Type="http://schemas.openxmlformats.org/officeDocument/2006/relationships/font" Target="fonts/RobotoLight-bold.fntdata"/><Relationship Id="rId16" Type="http://schemas.openxmlformats.org/officeDocument/2006/relationships/slide" Target="slides/slide9.xml"/><Relationship Id="rId38" Type="http://schemas.openxmlformats.org/officeDocument/2006/relationships/font" Target="fonts/RobotoLight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aadb85c1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9aadb85c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aadb85c1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9aadb85c1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aadb85c1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9aadb85c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aae1c280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9aae1c280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60" name="Google Shape;60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2" name="Google Shape;62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4" name="Google Shape;64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66" name="Google Shape;66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d3f69d6c_0_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f3d3f69d6c_0_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f3d3f69d6c_0_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d3f69d6c_0_83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3d3f69d6c_0_83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3d3f69d6c_0_83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3d3f69d6c_0_83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d3f69d6c_0_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3d3f69d6c_0_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f3d3f69d6c_0_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g3f3d3f69d6c_0_88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3d3f69d6c_0_88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3d3f69d6c_0_88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f3d3f69d6c_0_88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g3f3d3f69d6c_0_8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3d3f69d6c_0_88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94" name="Google Shape;94;g3f3d3f69d6c_0_88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f3d3f69d6c_0_88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3d3f69d6c_0_100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3d3f69d6c_0_100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g3f3d3f69d6c_0_100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3d3f69d6c_0_10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f3d3f69d6c_0_10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3d3f69d6c_0_100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3d3f69d6c_0_107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3d3f69d6c_0_107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g3f3d3f69d6c_0_10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3d3f69d6c_0_10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f3d3f69d6c_0_10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f3d3f69d6c_0_107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d3f69d6c_0_114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3d3f69d6c_0_114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3d3f69d6c_0_117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3d3f69d6c_0_117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f3d3f69d6c_0_117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g3f3d3f69d6c_0_117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3d3f69d6c_0_117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3d3f69d6c_0_117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d3f69d6c_0_124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3d3f69d6c_0_124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123" name="Google Shape;123;g3f3d3f69d6c_0_124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3d3f69d6c_0_124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125" name="Google Shape;125;g3f3d3f69d6c_0_124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3d3f69d6c_0_124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127" name="Google Shape;127;g3f3d3f69d6c_0_124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3d3f69d6c_0_124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129" name="Google Shape;129;g3f3d3f69d6c_0_124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3d3f69d6c_0_124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d3f69d6c_0_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g3f3d3f69d6c_0_7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g3f3d3f69d6c_0_7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g3f3d3f69d6c_0_7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g3f3d3f69d6c_0_7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g3f3d3f69d6c_0_72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g_ivD1_t3vZfzuFf_OAy_ECOEum1Qe3F/edit?usp=sharing&amp;ouid=114261064498700579036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348650" y="9201150"/>
            <a:ext cx="61692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Andrés Dubón Samayoa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0" name="Google Shape;140;p1"/>
          <p:cNvGraphicFramePr/>
          <p:nvPr/>
        </p:nvGraphicFramePr>
        <p:xfrm>
          <a:off x="12811850" y="173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{68F91939-2A77-44B9-ABE4-D548F02DA9F0}</a:tableStyleId>
              </a:tblPr>
              <a:tblGrid>
                <a:gridCol w="1304875"/>
                <a:gridCol w="235752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04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08</a:t>
                      </a: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Hora de inicio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17:20 horas</a:t>
                      </a:r>
                      <a:endParaRPr b="1" sz="2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154" name="Google Shape;154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Revisar su DTT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Dudas sobre el Proyecto 1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Tarea 1</a:t>
            </a:r>
            <a:endParaRPr/>
          </a:p>
        </p:txBody>
      </p:sp>
      <p:sp>
        <p:nvSpPr>
          <p:cNvPr id="155" name="Google Shape;155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61" name="Google Shape;161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Tipado Dinámico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Expresiones y Sentencias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Estructuras de Control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Recuperación de Errores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</a:t>
            </a:r>
            <a:endParaRPr/>
          </a:p>
        </p:txBody>
      </p:sp>
      <p:pic>
        <p:nvPicPr>
          <p:cNvPr descr="spongebob wearing glasses is reading a book titled field guide (proporcionada por Tenor)" id="162" name="Google Shape;162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68" name="Google Shape;168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Analiza la semántica de un lenguaje de programación mediante la validación de tipos, alcance y estructuras de control para determinar la corrección de expresiones y sentencias 						</a:t>
            </a:r>
            <a:endParaRPr/>
          </a:p>
        </p:txBody>
      </p:sp>
      <p:sp>
        <p:nvSpPr>
          <p:cNvPr id="169" name="Google Shape;169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Ética en la Gestión de Errores y Robustez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Tipado Dinámico</a:t>
            </a:r>
            <a:endParaRPr/>
          </a:p>
        </p:txBody>
      </p:sp>
      <p:sp>
        <p:nvSpPr>
          <p:cNvPr id="175" name="Google Shape;175;g39a701eccfd_0_108"/>
          <p:cNvSpPr txBox="1"/>
          <p:nvPr>
            <p:ph idx="1" type="body"/>
          </p:nvPr>
        </p:nvSpPr>
        <p:spPr>
          <a:xfrm>
            <a:off x="1148475" y="2307500"/>
            <a:ext cx="14995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inferencia de tipos consiste en deducir automáticamente el tipo de variables y funciones a partir de cómo se usan en el programa.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proceso general 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Crear variables de tipo nuevas.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Analizar expresiones y aplicaciones de funciones.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Inferir restricciones entre tipos.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Unificar tipos compatibles.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Generalizar variables libres con ∀.</a:t>
            </a:r>
            <a:endParaRPr/>
          </a:p>
        </p:txBody>
      </p:sp>
      <p:pic>
        <p:nvPicPr>
          <p:cNvPr id="176" name="Google Shape;176;g39a701eccfd_0_108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adb85c1c_0_17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Algorítmo Hindley-Milner para tipado dinámico</a:t>
            </a:r>
            <a:endParaRPr/>
          </a:p>
        </p:txBody>
      </p:sp>
      <p:pic>
        <p:nvPicPr>
          <p:cNvPr id="182" name="Google Shape;182;g39aadb85c1c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800" y="3782613"/>
            <a:ext cx="15220650" cy="27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aadb85c1c_0_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Expresiones y Sentencias</a:t>
            </a:r>
            <a:endParaRPr/>
          </a:p>
        </p:txBody>
      </p:sp>
      <p:sp>
        <p:nvSpPr>
          <p:cNvPr id="188" name="Google Shape;188;g39aadb85c1c_0_2"/>
          <p:cNvSpPr txBox="1"/>
          <p:nvPr>
            <p:ph idx="1" type="body"/>
          </p:nvPr>
        </p:nvSpPr>
        <p:spPr>
          <a:xfrm>
            <a:off x="1148475" y="2307500"/>
            <a:ext cx="8057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expresión es una combinación de valores, variables y operadores que produce un resultado. Siempre “devuelve algo”.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sentencia es una instrucción completa que realiza una acción. Puede incluir expresiones, pero no necesariamente devuelve un valor.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En un analizador sintáctico (parser), las sentencias están en un nivel más alto que las expresiones. Es decir: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sentencia es una instrucción completa del programa.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1"/>
              <a:buNone/>
            </a:pPr>
            <a:r>
              <a:rPr lang="en-US"/>
              <a:t>Una expresión es una parte que produce un valor y suele estar dentro de una sentencia.</a:t>
            </a:r>
            <a:endParaRPr/>
          </a:p>
        </p:txBody>
      </p:sp>
      <p:pic>
        <p:nvPicPr>
          <p:cNvPr id="189" name="Google Shape;189;g39aadb85c1c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2350" y="3141738"/>
            <a:ext cx="6659675" cy="55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aadb85c1c_0_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Estructuras de Control</a:t>
            </a:r>
            <a:endParaRPr/>
          </a:p>
        </p:txBody>
      </p:sp>
      <p:sp>
        <p:nvSpPr>
          <p:cNvPr id="195" name="Google Shape;195;g39aadb85c1c_0_7"/>
          <p:cNvSpPr txBox="1"/>
          <p:nvPr>
            <p:ph idx="1" type="body"/>
          </p:nvPr>
        </p:nvSpPr>
        <p:spPr>
          <a:xfrm>
            <a:off x="1148475" y="2307500"/>
            <a:ext cx="7939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Las estructuras de control son construcciones del lenguaje que determinan el flujo de ejecución del programa.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En un compilador, el análisis sintáctico las trata como sentencias compuestas que contienen condiciones, bloques y otras sentencias.</a:t>
            </a:r>
            <a:endParaRPr/>
          </a:p>
        </p:txBody>
      </p:sp>
      <p:pic>
        <p:nvPicPr>
          <p:cNvPr id="196" name="Google Shape;196;g39aadb85c1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1275" y="4174825"/>
            <a:ext cx="6815850" cy="35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aae1c2800_0_4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Recuperación de Errores</a:t>
            </a:r>
            <a:endParaRPr/>
          </a:p>
        </p:txBody>
      </p:sp>
      <p:sp>
        <p:nvSpPr>
          <p:cNvPr id="202" name="Google Shape;202;g39aae1c2800_0_4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Cuando un analizador sintáctico detecta un error, debe decidir cómo continuar el análisis sin detener todo el proceso.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El objetivo es evitar que un solo error genere muchos errores falsos posteriores y mantener información útil para el programador.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1. Modo de pánico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Es la estrategia más simple y robusta.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El parser, al encontrar un error: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descarta tokens de entrada uno por uno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hasta encontrar un token de sincronización (por ejemplo ;, } o 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</p:txBody>
      </p:sp>
      <p:sp>
        <p:nvSpPr>
          <p:cNvPr id="203" name="Google Shape;203;g39aae1c2800_0_4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2. Recuperación a nivel de frase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Consiste en hacer correcciones locales sobre la entrada.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Cuando ocurre un error: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se intenta corregir la cadena cercana al error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insertando, eliminando o reemplazando símbolos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3. Producciones de error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Se amplía la gramática para incluir errores comunes.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Se agregan reglas especiales como: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“faltó punto y coma”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“expresión inválida”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209" name="Google Shape;209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Tipado dinámico: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Inferencia automática del tipo de variables y expresiones a partir de su uso en el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Algoritmo Hindley-Milner: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Sistema de inferencia de tipos basado en creación de variables de tipo, restricciones y unificación.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Expresiones: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Construcciones que combinan valores y operadores y siempre producen un resultado.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Sentencias: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Instrucciones completas del programa que realizan acciones y pueden contener expresiones.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Jerarquía expresiones vs sentencias: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Las expresiones son componentes de las sentencias; las sentencias controlan la estructura del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Estructuras de control: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Construcciones que determinan el flujo de ejecución del programa (if, while, for).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Modo de pánico: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Estrategia de recuperación que descarta tokens hasta encontrar un símbolo de sincronización.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215" name="Google Shape;215;g39a701eccfd_0_118"/>
          <p:cNvSpPr txBox="1"/>
          <p:nvPr>
            <p:ph idx="1" type="body"/>
          </p:nvPr>
        </p:nvSpPr>
        <p:spPr>
          <a:xfrm>
            <a:off x="1148477" y="2307498"/>
            <a:ext cx="15991200" cy="723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1F497D"/>
                </a:solidFill>
                <a:highlight>
                  <a:srgbClr val="E8E7E0"/>
                </a:highlight>
                <a:latin typeface="Roboto"/>
                <a:ea typeface="Roboto"/>
                <a:cs typeface="Roboto"/>
                <a:sym typeface="Roboto"/>
              </a:rPr>
              <a:t>Libro de Referencia Principal:</a:t>
            </a:r>
            <a:endParaRPr b="1" sz="1665">
              <a:solidFill>
                <a:srgbClr val="1F497D"/>
              </a:solidFill>
              <a:highlight>
                <a:srgbClr val="E8E7E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333333"/>
                </a:solidFill>
                <a:highlight>
                  <a:srgbClr val="E8E7E0"/>
                </a:highlight>
                <a:latin typeface="Roboto"/>
                <a:ea typeface="Roboto"/>
                <a:cs typeface="Roboto"/>
                <a:sym typeface="Roboto"/>
              </a:rPr>
              <a:t>Aho, A. V., Lam, M. S., Sethi, R., &amp; Ullman, J. D. (2008). </a:t>
            </a:r>
            <a:r>
              <a:rPr b="0" i="1" lang="en-US" sz="1480">
                <a:solidFill>
                  <a:srgbClr val="333333"/>
                </a:solidFill>
                <a:highlight>
                  <a:srgbClr val="E8E7E0"/>
                </a:highlight>
                <a:latin typeface="Roboto"/>
                <a:ea typeface="Roboto"/>
                <a:cs typeface="Roboto"/>
                <a:sym typeface="Roboto"/>
              </a:rPr>
              <a:t>Compiladores: Principios, técnicas y herramientas</a:t>
            </a:r>
            <a:r>
              <a:rPr b="0" lang="en-US" sz="1480">
                <a:solidFill>
                  <a:srgbClr val="333333"/>
                </a:solidFill>
                <a:highlight>
                  <a:srgbClr val="E8E7E0"/>
                </a:highlight>
                <a:latin typeface="Roboto"/>
                <a:ea typeface="Roboto"/>
                <a:cs typeface="Roboto"/>
                <a:sym typeface="Roboto"/>
              </a:rPr>
              <a:t> (2.ª ed.). Pearson Educación.</a:t>
            </a:r>
            <a:endParaRPr b="0" sz="1480">
              <a:solidFill>
                <a:srgbClr val="333333"/>
              </a:solidFill>
              <a:highlight>
                <a:srgbClr val="E8E7E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1. Análisis Semántico</a:t>
            </a:r>
            <a:endParaRPr b="1" sz="1665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1.2.3 (Pág. 8):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Introducción al análisis semántico y comprobación de tipos.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Cap. 6 (Pág. 357):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Generación de código intermedio y validaciones.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6.1 (Pág. 358):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Variantes de árboles de sintaxis estructurales.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2. Tipado e Inferencia</a:t>
            </a:r>
            <a:endParaRPr b="1" sz="1665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6.5.4 (Pág. 391):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Inferencia de tipos y funciones polimórficas.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Algoritmo Hindley-Milner: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Resolución de restricciones y unificación.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Fig. 6.30 (Pág. 395):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Inferencia de tipos paso a paso.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3. Unificación</a:t>
            </a:r>
            <a:endParaRPr b="1" sz="1665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6.5.5 (Pág. 395):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Algoritmo de unificación para equivalencia de tipos.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Fig. 6.31 (Pág. 396):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Clases de equivalencia resultantes.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Fig. 6.32 (Pág. 397):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Pseudocódigo del algoritmo de unificación.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4. Expresiones y Sentencias</a:t>
            </a:r>
            <a:endParaRPr b="1" sz="1665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2.8.2 (Pág. 94):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Jerarquía estructural de expresiones y sentencias.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6.4 (Pág. 378):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Validación y traducción de operaciones aritmético-lógicas.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Fig. 6.19 (Pág. 379):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Reglas semánticas de traducción.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5. Estructuras de Control</a:t>
            </a:r>
            <a:endParaRPr b="1" sz="1665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6.6 (Pág. 399):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Flujo de control y semántica de saltos.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6.6.3 (Pág. 401):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Traducción de bloques if, if-else y while.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Fig. 6.35/36 (Págs. 402-403):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Diagramas y definiciones para etiquetas.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665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6. Recuperación de Errores</a:t>
            </a:r>
            <a:endParaRPr b="1" sz="1665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Sec. 4.1.4 (Pág. 195):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Estrategias para mantener la robustez del parser.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959" lvl="0" marL="457200" rtl="0" algn="l">
              <a:spcBef>
                <a:spcPts val="450"/>
              </a:spcBef>
              <a:spcAft>
                <a:spcPts val="450"/>
              </a:spcAft>
              <a:buClr>
                <a:srgbClr val="333333"/>
              </a:buClr>
              <a:buSzPts val="1203"/>
              <a:buFont typeface="Roboto"/>
              <a:buChar char="●"/>
            </a:pPr>
            <a:r>
              <a:rPr b="1"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Modo de Pánico:</a:t>
            </a:r>
            <a:r>
              <a:rPr lang="en-US" sz="1203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Descarte de símbolos hasta token de sincronización.</a:t>
            </a:r>
            <a:endParaRPr sz="1203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231" name="Google Shape;231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