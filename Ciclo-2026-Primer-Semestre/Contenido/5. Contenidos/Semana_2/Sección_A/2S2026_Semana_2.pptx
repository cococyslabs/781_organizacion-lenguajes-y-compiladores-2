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10287000" cx="18288000"/>
  <p:notesSz cx="6858000" cy="9144000"/>
  <p:embeddedFontLst>
    <p:embeddedFont>
      <p:font typeface="Roboto ExtraLight"/>
      <p:regular r:id="rId27"/>
      <p:bold r:id="rId28"/>
      <p:italic r:id="rId29"/>
      <p:boldItalic r:id="rId30"/>
    </p:embeddedFont>
    <p:embeddedFont>
      <p:font typeface="Roboto"/>
      <p:regular r:id="rId31"/>
      <p:bold r:id="rId32"/>
      <p:italic r:id="rId33"/>
      <p:boldItalic r:id="rId34"/>
    </p:embeddedFont>
    <p:embeddedFont>
      <p:font typeface="Roboto Medium"/>
      <p:regular r:id="rId35"/>
      <p:bold r:id="rId36"/>
      <p:italic r:id="rId37"/>
      <p:boldItalic r:id="rId38"/>
    </p:embeddedFont>
    <p:embeddedFont>
      <p:font typeface="Roboto Light"/>
      <p:regular r:id="rId39"/>
      <p:bold r:id="rId40"/>
      <p:italic r:id="rId41"/>
      <p:boldItalic r:id="rId42"/>
    </p:embeddedFont>
    <p:embeddedFont>
      <p:font typeface="Open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7" roundtripDataSignature="AMtx7miT13bqhVL+AOOO7+ANuLgdejto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D3CC96-52D5-44C5-B841-2CC73B0F49AC}">
  <a:tblStyle styleId="{E8D3CC96-52D5-44C5-B841-2CC73B0F49A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Light-bold.fntdata"/><Relationship Id="rId20" Type="http://schemas.openxmlformats.org/officeDocument/2006/relationships/slide" Target="slides/slide14.xml"/><Relationship Id="rId42" Type="http://schemas.openxmlformats.org/officeDocument/2006/relationships/font" Target="fonts/RobotoLight-boldItalic.fntdata"/><Relationship Id="rId41" Type="http://schemas.openxmlformats.org/officeDocument/2006/relationships/font" Target="fonts/RobotoLight-italic.fntdata"/><Relationship Id="rId22" Type="http://schemas.openxmlformats.org/officeDocument/2006/relationships/slide" Target="slides/slide16.xml"/><Relationship Id="rId44" Type="http://schemas.openxmlformats.org/officeDocument/2006/relationships/font" Target="fonts/OpenSans-bold.fntdata"/><Relationship Id="rId21" Type="http://schemas.openxmlformats.org/officeDocument/2006/relationships/slide" Target="slides/slide15.xml"/><Relationship Id="rId43" Type="http://schemas.openxmlformats.org/officeDocument/2006/relationships/font" Target="fonts/OpenSans-regular.fntdata"/><Relationship Id="rId24" Type="http://schemas.openxmlformats.org/officeDocument/2006/relationships/slide" Target="slides/slide18.xml"/><Relationship Id="rId46" Type="http://schemas.openxmlformats.org/officeDocument/2006/relationships/font" Target="fonts/OpenSans-boldItalic.fntdata"/><Relationship Id="rId23" Type="http://schemas.openxmlformats.org/officeDocument/2006/relationships/slide" Target="slides/slide17.xml"/><Relationship Id="rId45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font" Target="fonts/RobotoExtraLight-bold.fntdata"/><Relationship Id="rId27" Type="http://schemas.openxmlformats.org/officeDocument/2006/relationships/font" Target="fonts/RobotoExtraLigh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ExtraLigh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regular.fntdata"/><Relationship Id="rId30" Type="http://schemas.openxmlformats.org/officeDocument/2006/relationships/font" Target="fonts/RobotoExtraLight-boldItalic.fntdata"/><Relationship Id="rId11" Type="http://schemas.openxmlformats.org/officeDocument/2006/relationships/slide" Target="slides/slide5.xml"/><Relationship Id="rId33" Type="http://schemas.openxmlformats.org/officeDocument/2006/relationships/font" Target="fonts/Roboto-italic.fntdata"/><Relationship Id="rId10" Type="http://schemas.openxmlformats.org/officeDocument/2006/relationships/slide" Target="slides/slide4.xml"/><Relationship Id="rId32" Type="http://schemas.openxmlformats.org/officeDocument/2006/relationships/font" Target="fonts/Roboto-bold.fntdata"/><Relationship Id="rId13" Type="http://schemas.openxmlformats.org/officeDocument/2006/relationships/slide" Target="slides/slide7.xml"/><Relationship Id="rId35" Type="http://schemas.openxmlformats.org/officeDocument/2006/relationships/font" Target="fonts/RobotoMedium-regular.fntdata"/><Relationship Id="rId12" Type="http://schemas.openxmlformats.org/officeDocument/2006/relationships/slide" Target="slides/slide6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9.xml"/><Relationship Id="rId37" Type="http://schemas.openxmlformats.org/officeDocument/2006/relationships/font" Target="fonts/RobotoMedium-italic.fntdata"/><Relationship Id="rId14" Type="http://schemas.openxmlformats.org/officeDocument/2006/relationships/slide" Target="slides/slide8.xml"/><Relationship Id="rId36" Type="http://schemas.openxmlformats.org/officeDocument/2006/relationships/font" Target="fonts/RobotoMedium-bold.fntdata"/><Relationship Id="rId17" Type="http://schemas.openxmlformats.org/officeDocument/2006/relationships/slide" Target="slides/slide11.xml"/><Relationship Id="rId39" Type="http://schemas.openxmlformats.org/officeDocument/2006/relationships/font" Target="fonts/RobotoLight-regular.fntdata"/><Relationship Id="rId16" Type="http://schemas.openxmlformats.org/officeDocument/2006/relationships/slide" Target="slides/slide10.xml"/><Relationship Id="rId38" Type="http://schemas.openxmlformats.org/officeDocument/2006/relationships/font" Target="fonts/RobotoMedium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a701eccfd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9a701eccf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a701eccfd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9a701eccf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a701eccfd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9a701eccf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a701eccfd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9a701eccf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f9d4e0d71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df9d4e0d7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a701eccfd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9a701eccfd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f9d4e0d71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df9d4e0d7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a701eccfd_0_1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9a701eccfd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a701eccfd_0_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9a701eccfd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a701eccfd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9a701eccfd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a701eccfd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9a701eccf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56f3bc36f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56f3bc36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56f3bc36f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f56f3bc36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a701eccfd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9a701eccf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a701eccfd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9a701eccf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a701eccfd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9a701eccf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9a701eccfd_0_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39a701eccfd_0_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9a701eccfd_0_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9a701eccfd_0_25"/>
          <p:cNvSpPr/>
          <p:nvPr/>
        </p:nvSpPr>
        <p:spPr>
          <a:xfrm>
            <a:off x="733800" y="1237675"/>
            <a:ext cx="7913100" cy="1761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9a701eccfd_0_25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9a701eccfd_0_25"/>
          <p:cNvSpPr/>
          <p:nvPr/>
        </p:nvSpPr>
        <p:spPr>
          <a:xfrm>
            <a:off x="733800" y="3076975"/>
            <a:ext cx="7913100" cy="6321300"/>
          </a:xfrm>
          <a:prstGeom prst="snip1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9a701eccfd_0_25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Roboto Medium"/>
              <a:buNone/>
              <a:defRPr sz="2500">
                <a:solidFill>
                  <a:srgbClr val="88888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Roboto"/>
              <a:buNone/>
              <a:defRPr sz="23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Roboto Light"/>
              <a:buNone/>
              <a:defRPr sz="2100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9a701eccfd_0_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9a701eccfd_0_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g39a701eccfd_0_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g39a701eccfd_0_30"/>
          <p:cNvSpPr/>
          <p:nvPr/>
        </p:nvSpPr>
        <p:spPr>
          <a:xfrm>
            <a:off x="1148475" y="75685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9a701eccfd_0_30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g39a701eccfd_0_30"/>
          <p:cNvSpPr txBox="1"/>
          <p:nvPr>
            <p:ph idx="2" type="ftr"/>
          </p:nvPr>
        </p:nvSpPr>
        <p:spPr>
          <a:xfrm>
            <a:off x="2033490" y="6761300"/>
            <a:ext cx="136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9a701eccfd_0_30"/>
          <p:cNvSpPr txBox="1"/>
          <p:nvPr>
            <p:ph idx="3" type="sldNum"/>
          </p:nvPr>
        </p:nvSpPr>
        <p:spPr>
          <a:xfrm>
            <a:off x="3649936" y="6761300"/>
            <a:ext cx="100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g39a701eccfd_0_30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9a701eccfd_0_30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31" name="Google Shape;31;g39a701eccfd_0_30"/>
          <p:cNvSpPr txBox="1"/>
          <p:nvPr>
            <p:ph idx="4" type="sldNum"/>
          </p:nvPr>
        </p:nvSpPr>
        <p:spPr>
          <a:xfrm>
            <a:off x="11491720" y="6783200"/>
            <a:ext cx="1127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g39a701eccfd_0_30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9a701eccfd_0_18"/>
          <p:cNvSpPr txBox="1"/>
          <p:nvPr>
            <p:ph idx="11" type="ftr"/>
          </p:nvPr>
        </p:nvSpPr>
        <p:spPr>
          <a:xfrm>
            <a:off x="3025875" y="676130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9a701eccfd_0_18"/>
          <p:cNvSpPr txBox="1"/>
          <p:nvPr>
            <p:ph idx="12" type="sldNum"/>
          </p:nvPr>
        </p:nvSpPr>
        <p:spPr>
          <a:xfrm>
            <a:off x="6454875" y="67613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g39a701eccfd_0_18"/>
          <p:cNvSpPr/>
          <p:nvPr/>
        </p:nvSpPr>
        <p:spPr>
          <a:xfrm>
            <a:off x="1148475" y="72220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9a701eccfd_0_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9a701eccfd_0_18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9a701eccfd_0_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9a701eccfd_0_56"/>
          <p:cNvSpPr/>
          <p:nvPr/>
        </p:nvSpPr>
        <p:spPr>
          <a:xfrm>
            <a:off x="3351000" y="7415650"/>
            <a:ext cx="11586000" cy="1229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9a701eccfd_0_56"/>
          <p:cNvSpPr/>
          <p:nvPr>
            <p:ph idx="2" type="pic"/>
          </p:nvPr>
        </p:nvSpPr>
        <p:spPr>
          <a:xfrm>
            <a:off x="6400788" y="30265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g39a701eccfd_0_5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39a701eccfd_0_5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g39a701eccfd_0_5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g39a701eccfd_0_56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b="1" sz="4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9a701eccfd_0_53"/>
          <p:cNvSpPr/>
          <p:nvPr/>
        </p:nvSpPr>
        <p:spPr>
          <a:xfrm>
            <a:off x="692175" y="3242525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9a701eccfd_0_53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a701eccfd_0_11"/>
          <p:cNvSpPr/>
          <p:nvPr/>
        </p:nvSpPr>
        <p:spPr>
          <a:xfrm>
            <a:off x="681150" y="2919538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g39a701eccfd_0_11"/>
          <p:cNvSpPr txBox="1"/>
          <p:nvPr>
            <p:ph idx="11" type="ftr"/>
          </p:nvPr>
        </p:nvSpPr>
        <p:spPr>
          <a:xfrm>
            <a:off x="3146250" y="5757238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9a701eccfd_0_11"/>
          <p:cNvSpPr txBox="1"/>
          <p:nvPr>
            <p:ph idx="12" type="sldNum"/>
          </p:nvPr>
        </p:nvSpPr>
        <p:spPr>
          <a:xfrm>
            <a:off x="6575250" y="5757238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g39a701eccfd_0_11"/>
          <p:cNvSpPr/>
          <p:nvPr/>
        </p:nvSpPr>
        <p:spPr>
          <a:xfrm rot="10800000">
            <a:off x="2786850" y="5903763"/>
            <a:ext cx="12758400" cy="146370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9a701eccfd_0_11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9a701eccfd_0_11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Roboto"/>
              <a:buNone/>
              <a:defRPr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a701eccfd_0_42"/>
          <p:cNvSpPr/>
          <p:nvPr/>
        </p:nvSpPr>
        <p:spPr>
          <a:xfrm>
            <a:off x="4951829" y="4789363"/>
            <a:ext cx="8384400" cy="708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950" lIns="47950" spcFirstLastPara="1" rIns="47950" wrap="square" tIns="47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Arial"/>
              <a:buNone/>
            </a:pPr>
            <a:r>
              <a:t/>
            </a:r>
            <a:endParaRPr b="0" i="0" sz="7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9a701eccfd_0_42"/>
          <p:cNvSpPr txBox="1"/>
          <p:nvPr>
            <p:ph type="title"/>
          </p:nvPr>
        </p:nvSpPr>
        <p:spPr>
          <a:xfrm>
            <a:off x="4951750" y="4789363"/>
            <a:ext cx="8384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50" lIns="47950" spcFirstLastPara="1" rIns="47950" wrap="square" tIns="239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1"/>
              <a:buFont typeface="Roboto"/>
              <a:buNone/>
              <a:defRPr b="1" sz="2884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9pPr>
          </a:lstStyle>
          <a:p/>
        </p:txBody>
      </p:sp>
      <p:sp>
        <p:nvSpPr>
          <p:cNvPr id="60" name="Google Shape;60;g39a701eccfd_0_42"/>
          <p:cNvSpPr/>
          <p:nvPr/>
        </p:nvSpPr>
        <p:spPr>
          <a:xfrm>
            <a:off x="759600" y="378650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9a701eccfd_0_42"/>
          <p:cNvSpPr txBox="1"/>
          <p:nvPr>
            <p:ph idx="1" type="body"/>
          </p:nvPr>
        </p:nvSpPr>
        <p:spPr>
          <a:xfrm>
            <a:off x="759600" y="378650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2" name="Google Shape;62;g39a701eccfd_0_42"/>
          <p:cNvSpPr/>
          <p:nvPr/>
        </p:nvSpPr>
        <p:spPr>
          <a:xfrm>
            <a:off x="9144000" y="378650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9a701eccfd_0_42"/>
          <p:cNvSpPr txBox="1"/>
          <p:nvPr>
            <p:ph idx="2" type="body"/>
          </p:nvPr>
        </p:nvSpPr>
        <p:spPr>
          <a:xfrm>
            <a:off x="9143917" y="378622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4" name="Google Shape;64;g39a701eccfd_0_42"/>
          <p:cNvSpPr/>
          <p:nvPr/>
        </p:nvSpPr>
        <p:spPr>
          <a:xfrm>
            <a:off x="759600" y="5596175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9a701eccfd_0_42"/>
          <p:cNvSpPr txBox="1"/>
          <p:nvPr>
            <p:ph idx="3" type="body"/>
          </p:nvPr>
        </p:nvSpPr>
        <p:spPr>
          <a:xfrm>
            <a:off x="759600" y="5596175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6" name="Google Shape;66;g39a701eccfd_0_42"/>
          <p:cNvSpPr/>
          <p:nvPr/>
        </p:nvSpPr>
        <p:spPr>
          <a:xfrm>
            <a:off x="9144000" y="5596175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9a701eccfd_0_42"/>
          <p:cNvSpPr txBox="1"/>
          <p:nvPr>
            <p:ph idx="4" type="body"/>
          </p:nvPr>
        </p:nvSpPr>
        <p:spPr>
          <a:xfrm>
            <a:off x="9143917" y="5596147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a701eccfd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9a701eccfd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9a701eccfd_0_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9a701eccfd_0_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9a701eccfd_0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g39a701eccfd_0_0" title="Fondo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8278300" cy="10287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10.png"/><Relationship Id="rId7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ocs.google.com/document/d/1UqGRaNzU5hgQSYi_h_CCuyp5gOhoaQpr/edit?usp=sharing&amp;ouid=114261064498700579036&amp;rtpof=true&amp;sd=true" TargetMode="External"/><Relationship Id="rId4" Type="http://schemas.openxmlformats.org/officeDocument/2006/relationships/hyperlink" Target="https://ply.readthedocs.io/en/latest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3" name="Google Shape;73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4" name="Google Shape;74;p1"/>
          <p:cNvSpPr txBox="1"/>
          <p:nvPr/>
        </p:nvSpPr>
        <p:spPr>
          <a:xfrm>
            <a:off x="5792539" y="4770907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"/>
          <p:cNvSpPr txBox="1"/>
          <p:nvPr/>
        </p:nvSpPr>
        <p:spPr>
          <a:xfrm>
            <a:off x="348661" y="9201150"/>
            <a:ext cx="80214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Tutor: Diego </a:t>
            </a: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Felipe</a:t>
            </a: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 Cali Morales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2904225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77" name="Google Shape;77;p1"/>
          <p:cNvGraphicFramePr/>
          <p:nvPr/>
        </p:nvGraphicFramePr>
        <p:xfrm>
          <a:off x="12890375" y="241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{E8D3CC96-52D5-44C5-B841-2CC73B0F49AC}</a:tableStyleId>
              </a:tblPr>
              <a:tblGrid>
                <a:gridCol w="1163525"/>
                <a:gridCol w="2498875"/>
              </a:tblGrid>
              <a:tr h="61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Fecha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21</a:t>
                      </a: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/</a:t>
                      </a: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08</a:t>
                      </a: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/2026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/>
          <p:nvPr/>
        </p:nvSpPr>
        <p:spPr>
          <a:xfrm>
            <a:off x="0" y="0"/>
            <a:ext cx="18288000" cy="10297287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3" name="Google Shape;83;p2"/>
          <p:cNvSpPr txBox="1"/>
          <p:nvPr/>
        </p:nvSpPr>
        <p:spPr>
          <a:xfrm>
            <a:off x="6204049" y="3190240"/>
            <a:ext cx="58800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UNIDAD 1: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t/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4791300" y="4646550"/>
            <a:ext cx="83298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Análisis Sintáctico	</a:t>
            </a:r>
            <a:endParaRPr b="1" i="0" sz="7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a701eccfd_0_64"/>
          <p:cNvSpPr/>
          <p:nvPr/>
        </p:nvSpPr>
        <p:spPr>
          <a:xfrm>
            <a:off x="9551100" y="1166550"/>
            <a:ext cx="7860000" cy="795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9a701eccfd_0_64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Anuncios Importantes</a:t>
            </a:r>
            <a:endParaRPr/>
          </a:p>
        </p:txBody>
      </p:sp>
      <p:sp>
        <p:nvSpPr>
          <p:cNvPr id="91" name="Google Shape;91;g39a701eccfd_0_64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Foro semanal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Cronograma de Actividades.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Asignación a DTT</a:t>
            </a:r>
            <a:endParaRPr/>
          </a:p>
        </p:txBody>
      </p:sp>
      <p:sp>
        <p:nvSpPr>
          <p:cNvPr id="92" name="Google Shape;92;g39a701eccfd_0_64"/>
          <p:cNvSpPr/>
          <p:nvPr/>
        </p:nvSpPr>
        <p:spPr>
          <a:xfrm flipH="1">
            <a:off x="9685451" y="1459488"/>
            <a:ext cx="7591298" cy="7368025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a701eccfd_0_72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98" name="Google Shape;98;g39a701eccfd_0_72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Análisis Descendete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Análisis Ascendente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Resolución de Ambigüedades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Esquemas de Traducción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Instalaci</a:t>
            </a:r>
            <a:r>
              <a:rPr lang="en-US"/>
              <a:t>ón de PLY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Ejemplos pr</a:t>
            </a:r>
            <a:r>
              <a:rPr lang="en-US"/>
              <a:t>ácticos con PLY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a701eccfd_0_102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Competencias y Valor de la Semana</a:t>
            </a:r>
            <a:endParaRPr/>
          </a:p>
        </p:txBody>
      </p:sp>
      <p:sp>
        <p:nvSpPr>
          <p:cNvPr id="104" name="Google Shape;104;g39a701eccfd_0_102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Competencia: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en-US">
                <a:latin typeface="Roboto"/>
                <a:ea typeface="Roboto"/>
                <a:cs typeface="Roboto"/>
                <a:sym typeface="Roboto"/>
              </a:rPr>
              <a:t>Analiza estructuras de lenguaje mediante la aplicación de reglas formales para la generación de gramáticas</a:t>
            </a: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g39a701eccfd_0_102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Valor de la Semana: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en-US">
                <a:latin typeface="Roboto"/>
                <a:ea typeface="Roboto"/>
                <a:cs typeface="Roboto"/>
                <a:sym typeface="Roboto"/>
              </a:rPr>
              <a:t>Integridad y Veracidad Técnica</a:t>
            </a: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a701eccfd_0_10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Análisis Descendente	</a:t>
            </a:r>
            <a:endParaRPr/>
          </a:p>
        </p:txBody>
      </p:sp>
      <p:sp>
        <p:nvSpPr>
          <p:cNvPr id="111" name="Google Shape;111;g39a701eccfd_0_108"/>
          <p:cNvSpPr txBox="1"/>
          <p:nvPr>
            <p:ph idx="1" type="body"/>
          </p:nvPr>
        </p:nvSpPr>
        <p:spPr>
          <a:xfrm>
            <a:off x="1148475" y="2307500"/>
            <a:ext cx="75321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El análisis sintáctico descendente consiste en construir el árbol sintáctico desde arriba hacia abajo.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Es decir: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Se empieza desde el símbolo inicial de la gramática.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Luego se van expandiendo las reglas poco a poco.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El parser intenta verificar si la entrada coincide con esas reglas.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Por eso se llama descendente: porque baja desde la raíz del árbol hacia las hojas.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2" name="Google Shape;112;g39a701eccfd_0_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5900" y="3844175"/>
            <a:ext cx="6418575" cy="41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f9d4e0d71_0_1"/>
          <p:cNvSpPr/>
          <p:nvPr>
            <p:ph idx="2" type="pic"/>
          </p:nvPr>
        </p:nvSpPr>
        <p:spPr>
          <a:xfrm>
            <a:off x="6400788" y="30265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g3df9d4e0d71_0_1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Análisis Sintáctico descendente para: id+id*id</a:t>
            </a:r>
            <a:endParaRPr/>
          </a:p>
        </p:txBody>
      </p:sp>
      <p:pic>
        <p:nvPicPr>
          <p:cNvPr id="119" name="Google Shape;119;g3df9d4e0d71_0_1"/>
          <p:cNvPicPr preferRelativeResize="0"/>
          <p:nvPr/>
        </p:nvPicPr>
        <p:blipFill rotWithShape="1">
          <a:blip r:embed="rId3">
            <a:alphaModFix/>
          </a:blip>
          <a:srcRect b="7877" l="0" r="0" t="0"/>
          <a:stretch/>
        </p:blipFill>
        <p:spPr>
          <a:xfrm>
            <a:off x="5502725" y="490500"/>
            <a:ext cx="7282850" cy="665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a701eccfd_0_144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Análisis Ascendente</a:t>
            </a:r>
            <a:endParaRPr/>
          </a:p>
        </p:txBody>
      </p:sp>
      <p:sp>
        <p:nvSpPr>
          <p:cNvPr id="125" name="Google Shape;125;g39a701eccfd_0_144"/>
          <p:cNvSpPr txBox="1"/>
          <p:nvPr>
            <p:ph idx="1" type="body"/>
          </p:nvPr>
        </p:nvSpPr>
        <p:spPr>
          <a:xfrm>
            <a:off x="1148475" y="2307500"/>
            <a:ext cx="7835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El análisis sintáctico ascendente construye el árbol sintáctico: desde las hojas hacia la raíz, es decir, desde los tokens de entrada hacia el símbolo inicial.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Reducir significa: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en-US">
                <a:latin typeface="Roboto"/>
                <a:ea typeface="Roboto"/>
                <a:cs typeface="Roboto"/>
                <a:sym typeface="Roboto"/>
              </a:rPr>
              <a:t>Reemplazar una parte de la cadena por un no terminal.</a:t>
            </a: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6" name="Google Shape;126;g39a701eccfd_0_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64350" y="2650164"/>
            <a:ext cx="3785600" cy="655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f9d4e0d71_0_12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Análisis sintáctico ascendente para: id*id</a:t>
            </a:r>
            <a:endParaRPr/>
          </a:p>
        </p:txBody>
      </p:sp>
      <p:pic>
        <p:nvPicPr>
          <p:cNvPr id="132" name="Google Shape;132;g3df9d4e0d71_0_12"/>
          <p:cNvPicPr preferRelativeResize="0"/>
          <p:nvPr/>
        </p:nvPicPr>
        <p:blipFill rotWithShape="1">
          <a:blip r:embed="rId3">
            <a:alphaModFix/>
          </a:blip>
          <a:srcRect b="35350" l="0" r="0" t="-12803"/>
          <a:stretch/>
        </p:blipFill>
        <p:spPr>
          <a:xfrm>
            <a:off x="2795225" y="2859197"/>
            <a:ext cx="12697576" cy="344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a701eccfd_0_149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Resolución de ambigüedades sintácticas</a:t>
            </a:r>
            <a:endParaRPr/>
          </a:p>
        </p:txBody>
      </p:sp>
      <p:sp>
        <p:nvSpPr>
          <p:cNvPr id="138" name="Google Shape;138;g39a701eccfd_0_149"/>
          <p:cNvSpPr txBox="1"/>
          <p:nvPr>
            <p:ph idx="1" type="body"/>
          </p:nvPr>
        </p:nvSpPr>
        <p:spPr>
          <a:xfrm>
            <a:off x="1148475" y="2307500"/>
            <a:ext cx="14995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Eliminación de ambigüedad: Reescritura de una gramática para que cada cadena tenga un único árbol sintáctico.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Eliminación de recursividad por la izquierda: Transformación de reglas recursivas para que puedan ser usadas por parsers descendentes.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Eliminación de recursividad indirecta: Eliminación de dependencias recursivas entre varios no terminales.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Factorización por la izquierda: Reorganización de producciones con prefijos comunes para facilitar decisiones del parser.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a701eccfd_0_154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Esquemas de Traducción</a:t>
            </a:r>
            <a:endParaRPr/>
          </a:p>
        </p:txBody>
      </p:sp>
      <p:sp>
        <p:nvSpPr>
          <p:cNvPr id="144" name="Google Shape;144;g39a701eccfd_0_154"/>
          <p:cNvSpPr txBox="1"/>
          <p:nvPr>
            <p:ph idx="1" type="body"/>
          </p:nvPr>
        </p:nvSpPr>
        <p:spPr>
          <a:xfrm>
            <a:off x="1148475" y="2307500"/>
            <a:ext cx="80823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Gramática con acciones semánticas incrustadas para ejecutar traducciones durante el análisis sintáctico.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Acciones semánticas: Fragmentos de código ejecutados cuando se reconoce una producción o símbolo.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Esquema postfijo: Esquema donde las acciones se colocan al final de las producciones.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Atributos sintetizados: Valores calculados a partir de los hijos de un nodo y propagados hacia arriba.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5" name="Google Shape;145;g39a701eccfd_0_154"/>
          <p:cNvPicPr preferRelativeResize="0"/>
          <p:nvPr/>
        </p:nvPicPr>
        <p:blipFill rotWithShape="1">
          <a:blip r:embed="rId3">
            <a:alphaModFix/>
          </a:blip>
          <a:srcRect b="0" l="4397" r="4760" t="0"/>
          <a:stretch/>
        </p:blipFill>
        <p:spPr>
          <a:xfrm>
            <a:off x="8901700" y="4162038"/>
            <a:ext cx="7776950" cy="352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a701eccfd_0_113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Conceptos clave</a:t>
            </a:r>
            <a:endParaRPr/>
          </a:p>
        </p:txBody>
      </p:sp>
      <p:sp>
        <p:nvSpPr>
          <p:cNvPr id="151" name="Google Shape;151;g39a701eccfd_0_113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Gramática Libre de Contexto (GLC): Conjunto de reglas utilizadas para definir la estructura de un lenguaje.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Árbol Sintáctico: Representación jerárquica de cómo una cadena es interpretada por la gramática.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Análisis Descendente: Construcción del árbol sintáctico desde la raíz hacia las hojas.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Análisis Ascendente: Construcción del árbol sintáctico desde las hojas hacia la raíz mediante reducciones.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Ambigüedad Sintáctica: Situación donde una cadena puede tener más de un árbol sintáctico.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Factorización y Eliminación de Recursividad: Técnicas para adaptar gramáticas a parsers predictivos.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Esquemas de Traducción: Gramáticas con acciones semánticas para ejecutar traducciones durante el análisis sintáctico.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a701eccfd_0_1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Referencias</a:t>
            </a:r>
            <a:endParaRPr/>
          </a:p>
        </p:txBody>
      </p:sp>
      <p:sp>
        <p:nvSpPr>
          <p:cNvPr id="157" name="Google Shape;157;g39a701eccfd_0_1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Aho, A. V., Lam, M. S., Sethi, R., &amp; Ullman, J. D. (2008). Compiladores: Principios, técnicas y herramientas (2.ª ed.). Pearson Educación.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56f3bc36f_0_26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PLY</a:t>
            </a:r>
            <a:endParaRPr/>
          </a:p>
        </p:txBody>
      </p:sp>
      <p:sp>
        <p:nvSpPr>
          <p:cNvPr id="163" name="Google Shape;163;g3f56f3bc36f_0_26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PLY es una implementación en Python puro de las herramientas de construcción de compiladores lex y yacc. Su principal objetivo es mantenerse lo más fiel posible a la forma en que funcionan las herramientas tradicionales lex/yacc. Esto incluye el soporte para análisis sintáctico LALR(1), así como una validación exhaustiva de la entrada, generación de reportes de errores y herramientas de diagnóstico.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4" name="Google Shape;164;g3f56f3bc36f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1802" y="5097876"/>
            <a:ext cx="6684549" cy="417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56f3bc36f_0_5"/>
          <p:cNvSpPr txBox="1"/>
          <p:nvPr>
            <p:ph type="title"/>
          </p:nvPr>
        </p:nvSpPr>
        <p:spPr>
          <a:xfrm>
            <a:off x="4951750" y="4789363"/>
            <a:ext cx="8384400" cy="708300"/>
          </a:xfrm>
          <a:prstGeom prst="rect">
            <a:avLst/>
          </a:prstGeom>
        </p:spPr>
        <p:txBody>
          <a:bodyPr anchorCtr="0" anchor="ctr" bIns="23950" lIns="47950" spcFirstLastPara="1" rIns="47950" wrap="square" tIns="239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Generalidades de PLY</a:t>
            </a:r>
            <a:endParaRPr/>
          </a:p>
        </p:txBody>
      </p:sp>
      <p:sp>
        <p:nvSpPr>
          <p:cNvPr id="170" name="Google Shape;170;g3f56f3bc36f_0_5"/>
          <p:cNvSpPr txBox="1"/>
          <p:nvPr>
            <p:ph idx="1" type="body"/>
          </p:nvPr>
        </p:nvSpPr>
        <p:spPr>
          <a:xfrm>
            <a:off x="759600" y="378650"/>
            <a:ext cx="8384400" cy="4312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latin typeface="Roboto"/>
                <a:ea typeface="Roboto"/>
                <a:cs typeface="Roboto"/>
                <a:sym typeface="Roboto"/>
              </a:rPr>
              <a:t>Producciones: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latin typeface="Roboto"/>
                <a:ea typeface="Roboto"/>
                <a:cs typeface="Roboto"/>
                <a:sym typeface="Roboto"/>
              </a:rPr>
              <a:t>En PLY, cada producción de la gramática se implementa mediante una función de Python.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-US" sz="2600">
                <a:latin typeface="Roboto"/>
                <a:ea typeface="Roboto"/>
                <a:cs typeface="Roboto"/>
                <a:sym typeface="Roboto"/>
              </a:rPr>
              <a:t>El docstring contiene la regla de la gramática.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-US" sz="2600">
                <a:latin typeface="Roboto"/>
                <a:ea typeface="Roboto"/>
                <a:cs typeface="Roboto"/>
                <a:sym typeface="Roboto"/>
              </a:rPr>
              <a:t>El nombre de la función es irrelevante para el parser.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-US" sz="2600">
                <a:latin typeface="Roboto"/>
                <a:ea typeface="Roboto"/>
                <a:cs typeface="Roboto"/>
                <a:sym typeface="Roboto"/>
              </a:rPr>
              <a:t>La función se ejecuta cuando la producción es reducida.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g3f56f3bc36f_0_5"/>
          <p:cNvSpPr txBox="1"/>
          <p:nvPr>
            <p:ph idx="2" type="body"/>
          </p:nvPr>
        </p:nvSpPr>
        <p:spPr>
          <a:xfrm>
            <a:off x="9143917" y="378622"/>
            <a:ext cx="8384400" cy="4312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latin typeface="Roboto"/>
                <a:ea typeface="Roboto"/>
                <a:cs typeface="Roboto"/>
                <a:sym typeface="Roboto"/>
              </a:rPr>
              <a:t>Acceso a los símbolos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g3f56f3bc36f_0_5"/>
          <p:cNvSpPr txBox="1"/>
          <p:nvPr>
            <p:ph idx="3" type="body"/>
          </p:nvPr>
        </p:nvSpPr>
        <p:spPr>
          <a:xfrm>
            <a:off x="759600" y="5596175"/>
            <a:ext cx="8384400" cy="4312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latin typeface="Roboto"/>
                <a:ea typeface="Roboto"/>
                <a:cs typeface="Roboto"/>
                <a:sym typeface="Roboto"/>
              </a:rPr>
              <a:t>Acciones Semánticas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latin typeface="Roboto"/>
                <a:ea typeface="Roboto"/>
                <a:cs typeface="Roboto"/>
                <a:sym typeface="Roboto"/>
              </a:rPr>
              <a:t>Las acciones semánticas son código Python que se ejecuta cuando una producción es reconocida.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g3f56f3bc36f_0_5"/>
          <p:cNvSpPr txBox="1"/>
          <p:nvPr>
            <p:ph idx="4" type="body"/>
          </p:nvPr>
        </p:nvSpPr>
        <p:spPr>
          <a:xfrm>
            <a:off x="9143917" y="5596147"/>
            <a:ext cx="8384400" cy="4312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latin typeface="Roboto"/>
                <a:ea typeface="Roboto"/>
                <a:cs typeface="Roboto"/>
                <a:sym typeface="Roboto"/>
              </a:rPr>
              <a:t>Marcadores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latin typeface="Roboto"/>
                <a:ea typeface="Roboto"/>
                <a:cs typeface="Roboto"/>
                <a:sym typeface="Roboto"/>
              </a:rPr>
              <a:t>PLY no ejecuta acciones "a mitad" de una producción. Para lograrlo se utilizan producciones vacías, conocidas como marcadores.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4" name="Google Shape;174;g3f56f3bc36f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638" y="3239177"/>
            <a:ext cx="6196325" cy="106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3f56f3bc36f_0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05132" y="1731720"/>
            <a:ext cx="6061975" cy="257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f56f3bc36f_0_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5163" y="7388831"/>
            <a:ext cx="7033675" cy="178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3f56f3bc36f_0_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542175" y="7746252"/>
            <a:ext cx="3908766" cy="106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g3f56f3bc36f_0_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424963" y="7746253"/>
            <a:ext cx="3836238" cy="106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a701eccfd_0_127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Instalaci</a:t>
            </a:r>
            <a:r>
              <a:rPr lang="en-US"/>
              <a:t>ón de PLY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a701eccfd_0_131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Ejemplos pr</a:t>
            </a:r>
            <a:r>
              <a:rPr lang="en-US"/>
              <a:t>ácticos con PLY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a701eccfd_0_135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Recursos</a:t>
            </a:r>
            <a:endParaRPr/>
          </a:p>
        </p:txBody>
      </p:sp>
      <p:sp>
        <p:nvSpPr>
          <p:cNvPr id="194" name="Google Shape;194;g39a701eccfd_0_135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Actividad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u="sng">
                <a:solidFill>
                  <a:schemeClr val="hlink"/>
                </a:solidFill>
                <a:hlinkClick r:id="rId4"/>
              </a:rPr>
              <a:t>Documentación PLY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