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Roboto ExtraLight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Roboto Medium"/>
      <p:regular r:id="rId32"/>
      <p:bold r:id="rId33"/>
      <p:italic r:id="rId34"/>
      <p:boldItalic r:id="rId35"/>
    </p:embeddedFont>
    <p:embeddedFont>
      <p:font typeface="Roboto Light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iLKEfh3oT8hV3nT9VzIvMOkS6U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B9A8FE-1F4B-4A4E-A41A-09C3DAB716CC}">
  <a:tblStyle styleId="{16B9A8FE-1F4B-4A4E-A41A-09C3DAB716C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OpenSans-boldItalic.fntdata"/><Relationship Id="rId24" Type="http://schemas.openxmlformats.org/officeDocument/2006/relationships/font" Target="fonts/RobotoExtraLight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italic.fntdata"/><Relationship Id="rId25" Type="http://schemas.openxmlformats.org/officeDocument/2006/relationships/font" Target="fonts/RobotoExtraLight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obotoExtra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bold.fntdata"/><Relationship Id="rId10" Type="http://schemas.openxmlformats.org/officeDocument/2006/relationships/slide" Target="slides/slide4.xml"/><Relationship Id="rId32" Type="http://schemas.openxmlformats.org/officeDocument/2006/relationships/font" Target="fonts/RobotoMedium-regular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italic.fntdata"/><Relationship Id="rId15" Type="http://schemas.openxmlformats.org/officeDocument/2006/relationships/slide" Target="slides/slide9.xml"/><Relationship Id="rId37" Type="http://schemas.openxmlformats.org/officeDocument/2006/relationships/font" Target="fonts/RobotoLight-bold.fntdata"/><Relationship Id="rId14" Type="http://schemas.openxmlformats.org/officeDocument/2006/relationships/slide" Target="slides/slide8.xml"/><Relationship Id="rId36" Type="http://schemas.openxmlformats.org/officeDocument/2006/relationships/font" Target="fonts/RobotoLight-regular.fntdata"/><Relationship Id="rId17" Type="http://schemas.openxmlformats.org/officeDocument/2006/relationships/slide" Target="slides/slide11.xml"/><Relationship Id="rId39" Type="http://schemas.openxmlformats.org/officeDocument/2006/relationships/font" Target="fonts/Roboto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414b6b2a9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414b6b2a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bbb7898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9bbb7898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bbb78989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9bbb7898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bbb7898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9bbb7898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414b6b2a9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414b6b2a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414b6b2a9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414b6b2a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iegocali.github.io/simple-c3d-playground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lvm.org/docs/LangRef.html" TargetMode="External"/><Relationship Id="rId4" Type="http://schemas.openxmlformats.org/officeDocument/2006/relationships/hyperlink" Target="https://johannst.github.io/notes/arch/arm64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57" y="9201150"/>
            <a:ext cx="65937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Felipe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{16B9A8FE-1F4B-4A4E-A41A-09C3DAB716CC}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01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09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173100" y="4544750"/>
            <a:ext cx="139419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Representación intermedia y generación de código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 semanal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-US"/>
              <a:t>Conferencia del curso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Enunciado Proyecto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Horarios de calificación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685451" y="1459488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Representación Intermedia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Repaso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Ensamblador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Aspectos claves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Ejemplo repositorio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4" name="Google Shape;104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Analiza las equivalencias sintácticas y semánticas de un lenguaje de alto nivel mediante el mapeo de construcciones a instrucciones de Representación Intermedia tales como C3D, cuádruplas o Bytecode. 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Rigor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414b6b2a9_0_70"/>
          <p:cNvSpPr txBox="1"/>
          <p:nvPr>
            <p:ph idx="1" type="body"/>
          </p:nvPr>
        </p:nvSpPr>
        <p:spPr>
          <a:xfrm>
            <a:off x="1148475" y="2307500"/>
            <a:ext cx="79095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Código de 3 direcciones: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 una representación intermedia que descompone expresiones en instrucciones simples de máximo tres operandos. Al ser un formato neutral e independiente del hardware, permite al compilador optimizar la lógica universalmente sin atarse a un procesador específico.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3f414b6b2a9_0_7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Representaciones intermedias</a:t>
            </a:r>
            <a:endParaRPr/>
          </a:p>
        </p:txBody>
      </p:sp>
      <p:sp>
        <p:nvSpPr>
          <p:cNvPr id="112" name="Google Shape;112;g3f414b6b2a9_0_70"/>
          <p:cNvSpPr txBox="1"/>
          <p:nvPr>
            <p:ph idx="5" type="body"/>
          </p:nvPr>
        </p:nvSpPr>
        <p:spPr>
          <a:xfrm>
            <a:off x="9058125" y="2285600"/>
            <a:ext cx="80814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Byte code: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 una representación intermedia enfocada en la portabilidad y la ejecución. Es un conjunto de instrucciones de muy bajo nivel diseñado para ser interpretado por una Máquina Virtual en lugar de un procesador físico.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g3f414b6b2a9_0_70"/>
          <p:cNvPicPr preferRelativeResize="0"/>
          <p:nvPr/>
        </p:nvPicPr>
        <p:blipFill rotWithShape="1">
          <a:blip r:embed="rId3">
            <a:alphaModFix/>
          </a:blip>
          <a:srcRect b="18281" l="0" r="0" t="0"/>
          <a:stretch/>
        </p:blipFill>
        <p:spPr>
          <a:xfrm>
            <a:off x="1888538" y="6997250"/>
            <a:ext cx="6429375" cy="23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f414b6b2a9_0_70" title="bytecode.jpg"/>
          <p:cNvPicPr preferRelativeResize="0"/>
          <p:nvPr/>
        </p:nvPicPr>
        <p:blipFill rotWithShape="1">
          <a:blip r:embed="rId4">
            <a:alphaModFix/>
          </a:blip>
          <a:srcRect b="12400" l="0" r="26275" t="13174"/>
          <a:stretch/>
        </p:blipFill>
        <p:spPr>
          <a:xfrm>
            <a:off x="10384412" y="6240025"/>
            <a:ext cx="5428826" cy="30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f9bbb78989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875" y="225513"/>
            <a:ext cx="11864251" cy="98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bbb78989_0_39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Repaso</a:t>
            </a:r>
            <a:endParaRPr/>
          </a:p>
        </p:txBody>
      </p:sp>
      <p:sp>
        <p:nvSpPr>
          <p:cNvPr id="125" name="Google Shape;125;g3f9bbb78989_0_39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cond → cond and cond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| not cond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| (cond)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| E oprl 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 → E + 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| E * 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| num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oprl → &lt;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| &gt;</a:t>
            </a:r>
            <a:endParaRPr/>
          </a:p>
        </p:txBody>
      </p:sp>
      <p:sp>
        <p:nvSpPr>
          <p:cNvPr id="126" name="Google Shape;126;g3f9bbb78989_0_39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Nota: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Los identificadores no son estáticos; se asume el uso de funciones como newTemp() y newLabel() para instanciar temporales (t1) y etiquetas (L1) únicos, evitando colisiones.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 de traducción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Recorrido del árbol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Implementación en PLY	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Probar código generado con </a:t>
            </a:r>
            <a:r>
              <a:rPr lang="en-U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C3D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bbb78989_0_46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Ensamblador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414b6b2a9_0_7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ARM64</a:t>
            </a:r>
            <a:endParaRPr/>
          </a:p>
        </p:txBody>
      </p:sp>
      <p:sp>
        <p:nvSpPr>
          <p:cNvPr id="137" name="Google Shape;137;g3f414b6b2a9_0_7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ARM64 es una arquitectura de procesadores de 64 bits diseñada para ser extremadamente eficiente.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basa en un modelo llamado RISC, lo que significa que utiliza instrucciones más simples y directas. Esta filosofía de diseño le permite lograr un gran equilibrio: ofrece un alto rendimiento consumiendo muy poca energía y generando poco calor.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8" name="Google Shape;138;g3f414b6b2a9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6200" y="5966724"/>
            <a:ext cx="3715749" cy="32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44" name="Google Shape;144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Registros: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Son las unidades de almacenamiento físico más rápidas, ubicadas dentro del propio procesador.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-US"/>
              <a:t>W0, W1 (registros de 32 bits para enteros).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Instrucciones: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Son los comandos atómicos que ejecuta el hardware. ARM utiliza un conjunto reducido RISC.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-US"/>
              <a:t>ADD W0, W1, W2 (Suma el valor de W1 y W2, y lo guarda en W0).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-US"/>
              <a:t>STR W0, [X29] (Almacena el valor de W0 en la memoria).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Control de Flujo: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Son las instrucciones que alteran la ejecución lineal del código. Se basan en comparar valores y evaluar banderas de estado a nivel de hardware para decidir si la ejecución debe saltar a otra parte del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-US"/>
              <a:t>CMP W0, #10 (Compara el valor de W0 con 10).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-US"/>
              <a:t>B.GT L_mayor (Salta si es Greater Than / Mayor Que).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Etiquetas: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Son marcadores simbólicos en el texto del ensamblador que representan direcciones de memoria específicas. Son el equivalente directo de las etiquetas del código de tres direcciones y sirven como destino para los saltos de control de flujo.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Desplazamiento: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Es un valor numérico constante que se suma o se resta a una dirección base para localizar un dato específico en la memoria.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n-US"/>
              <a:t>LDR W1, [X29, #-8] (Carga en W1 el valor ubicado en la dirección de memoria apuntada por X29, desplazado 8 bytes hacia abajo).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414b6b2a9_0_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0" name="Google Shape;150;g3f414b6b2a9_0_2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61" name="Google Shape;161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LLVM Reference Manual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ARM64 Cheat Sheet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