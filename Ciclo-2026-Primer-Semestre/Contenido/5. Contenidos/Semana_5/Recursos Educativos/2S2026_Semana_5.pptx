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2381CD-B825-4087-AC82-1601155DACC3}">
  <a:tblStyle styleId="{852381CD-B825-4087-AC82-1601155DACC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ff0c1c30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ff0c1c30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ff0c1c300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ff0c1c300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ff0c1c30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ff0c1c30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ff0c1c300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ff0c1c300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ff0c1c30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ff0c1c30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ff0c1c30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ff0c1c30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ff0c1c300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ff0c1c300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ff0c1c300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ff0c1c300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ff0c1c30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ff0c1c30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ff0c1c300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ff0c1c300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ff0c1c300_0_3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ff0c1c300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8" name="Google Shape;68;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 sz="2771" u="none" cap="none" strike="noStrike">
                <a:solidFill>
                  <a:srgbClr val="000000"/>
                </a:solidFill>
                <a:latin typeface="Arial"/>
                <a:ea typeface="Arial"/>
                <a:cs typeface="Arial"/>
                <a:sym typeface="Arial"/>
              </a:rPr>
              <a:t>Organización de Lenguajes y Compiladores 2</a:t>
            </a:r>
            <a:r>
              <a:rPr lang="es" sz="2771"/>
              <a:t> Sección &lt;&lt;X&gt;&gt;</a:t>
            </a:r>
            <a:endParaRPr b="0" i="0" sz="2771" u="none" cap="none" strike="noStrike">
              <a:solidFill>
                <a:srgbClr val="000000"/>
              </a:solidFill>
              <a:latin typeface="Arial"/>
              <a:ea typeface="Arial"/>
              <a:cs typeface="Arial"/>
              <a:sym typeface="Arial"/>
            </a:endParaRPr>
          </a:p>
        </p:txBody>
      </p:sp>
      <p:sp>
        <p:nvSpPr>
          <p:cNvPr id="69" name="Google Shape;69;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 sz="2217"/>
              <a:t>&lt;&lt;nombre&gt;&gt;</a:t>
            </a:r>
            <a:endParaRPr b="0" i="0" sz="2217" u="none" cap="none" strike="noStrike">
              <a:solidFill>
                <a:srgbClr val="000000"/>
              </a:solidFill>
              <a:latin typeface="Arial"/>
              <a:ea typeface="Arial"/>
              <a:cs typeface="Arial"/>
              <a:sym typeface="Arial"/>
            </a:endParaRPr>
          </a:p>
        </p:txBody>
      </p:sp>
      <p:graphicFrame>
        <p:nvGraphicFramePr>
          <p:cNvPr id="70" name="Google Shape;70;p13"/>
          <p:cNvGraphicFramePr/>
          <p:nvPr/>
        </p:nvGraphicFramePr>
        <p:xfrm>
          <a:off x="5231045" y="1013300"/>
          <a:ext cx="3000000" cy="3000000"/>
        </p:xfrm>
        <a:graphic>
          <a:graphicData uri="http://schemas.openxmlformats.org/drawingml/2006/table">
            <a:tbl>
              <a:tblPr>
                <a:noFill/>
                <a:tableStyleId>{852381CD-B825-4087-AC82-1601155DACC3}</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 sz="1200" u="none" cap="none" strike="noStrike">
                          <a:solidFill>
                            <a:srgbClr val="000000"/>
                          </a:solidFill>
                          <a:latin typeface="Arial"/>
                          <a:ea typeface="Arial"/>
                          <a:cs typeface="Arial"/>
                          <a:sym typeface="Arial"/>
                        </a:rPr>
                        <a:t>Martes, </a:t>
                      </a:r>
                      <a:r>
                        <a:rPr lang="es" sz="1200"/>
                        <a:t>xx</a:t>
                      </a:r>
                      <a:r>
                        <a:rPr b="0" lang="es" sz="1200" u="none" cap="none" strike="noStrike">
                          <a:solidFill>
                            <a:srgbClr val="000000"/>
                          </a:solidFill>
                          <a:latin typeface="Arial"/>
                          <a:ea typeface="Arial"/>
                          <a:cs typeface="Arial"/>
                          <a:sym typeface="Arial"/>
                        </a:rPr>
                        <a:t>/</a:t>
                      </a:r>
                      <a:r>
                        <a:rPr lang="es" sz="1200"/>
                        <a:t>xx</a:t>
                      </a:r>
                      <a:r>
                        <a:rPr b="0" lang="es" sz="1200" u="none" cap="none" strike="noStrike">
                          <a:solidFill>
                            <a:srgbClr val="000000"/>
                          </a:solidFill>
                          <a:latin typeface="Arial"/>
                          <a:ea typeface="Arial"/>
                          <a:cs typeface="Arial"/>
                          <a:sym typeface="Arial"/>
                        </a:rPr>
                        <a:t>/20</a:t>
                      </a:r>
                      <a:r>
                        <a:rPr lang="es" sz="1200"/>
                        <a:t>2x</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1200"/>
                        <a:t>17</a:t>
                      </a:r>
                      <a:r>
                        <a:rPr b="0" lang="es" sz="1200" u="none" cap="none" strike="noStrike">
                          <a:solidFill>
                            <a:srgbClr val="000000"/>
                          </a:solidFill>
                          <a:latin typeface="Arial"/>
                          <a:ea typeface="Arial"/>
                          <a:cs typeface="Arial"/>
                          <a:sym typeface="Arial"/>
                        </a:rPr>
                        <a:t>:</a:t>
                      </a:r>
                      <a:r>
                        <a:rPr lang="es"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Funciones y Cerraduras en un Int</a:t>
            </a:r>
            <a:r>
              <a:rPr lang="es"/>
              <a:t>érprete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Funciones Embebidas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Funciones Foráneas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Closures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Hoisting</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CallStack</a:t>
            </a:r>
            <a:endParaRPr>
              <a:solidFill>
                <a:srgbClr val="595959"/>
              </a:solidFill>
              <a:latin typeface="Lato"/>
              <a:ea typeface="Lato"/>
              <a:cs typeface="Lato"/>
              <a:sym typeface="Lato"/>
            </a:endParaRPr>
          </a:p>
          <a:p>
            <a:pPr indent="0" lvl="0" marL="0" rtl="0" algn="l">
              <a:lnSpc>
                <a:spcPct val="100000"/>
              </a:lnSpc>
              <a:spcBef>
                <a:spcPts val="1200"/>
              </a:spcBef>
              <a:spcAft>
                <a:spcPts val="1200"/>
              </a:spcAft>
              <a:buNone/>
            </a:pPr>
            <a:r>
              <a:t/>
            </a:r>
            <a:endParaRPr/>
          </a:p>
        </p:txBody>
      </p:sp>
      <p:sp>
        <p:nvSpPr>
          <p:cNvPr id="81" name="Google Shape;81;p15"/>
          <p:cNvSpPr txBox="1"/>
          <p:nvPr>
            <p:ph idx="2" type="body"/>
          </p:nvPr>
        </p:nvSpPr>
        <p:spPr>
          <a:xfrm>
            <a:off x="457200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Recursos:</a:t>
            </a:r>
            <a:endParaRPr/>
          </a:p>
          <a:p>
            <a:pPr indent="-317500" lvl="0" marL="457200" rtl="0" algn="l">
              <a:spcBef>
                <a:spcPts val="1200"/>
              </a:spcBef>
              <a:spcAft>
                <a:spcPts val="0"/>
              </a:spcAft>
              <a:buSzPts val="1400"/>
              <a:buChar char="➔"/>
            </a:pPr>
            <a:r>
              <a:rPr lang="es"/>
              <a:t>&lt;&lt;Agregar ad hoc&gt;&gt;</a:t>
            </a:r>
            <a:endParaRPr/>
          </a:p>
        </p:txBody>
      </p:sp>
      <p:sp>
        <p:nvSpPr>
          <p:cNvPr id="82" name="Google Shape;82;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Agenda</a:t>
            </a:r>
            <a:endParaRPr/>
          </a:p>
        </p:txBody>
      </p:sp>
      <p:sp>
        <p:nvSpPr>
          <p:cNvPr id="83" name="Google Shape;83;p15"/>
          <p:cNvSpPr/>
          <p:nvPr/>
        </p:nvSpPr>
        <p:spPr>
          <a:xfrm>
            <a:off x="1994229" y="633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84" name="Google Shape;84;p15"/>
          <p:cNvSpPr txBox="1"/>
          <p:nvPr/>
        </p:nvSpPr>
        <p:spPr>
          <a:xfrm>
            <a:off x="5075775" y="3355875"/>
            <a:ext cx="3362400" cy="16248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15000"/>
              </a:lnSpc>
              <a:spcBef>
                <a:spcPts val="0"/>
              </a:spcBef>
              <a:spcAft>
                <a:spcPts val="0"/>
              </a:spcAft>
              <a:buNone/>
            </a:pPr>
            <a:r>
              <a:rPr lang="es"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 sz="1600">
                <a:solidFill>
                  <a:srgbClr val="595959"/>
                </a:solidFill>
                <a:latin typeface="Lato"/>
                <a:ea typeface="Lato"/>
                <a:cs typeface="Lato"/>
                <a:sym typeface="Lato"/>
              </a:rPr>
              <a:t>Ética del Alcance</a:t>
            </a:r>
            <a:endParaRPr sz="1000"/>
          </a:p>
          <a:p>
            <a:pPr indent="0" lvl="0" marL="0" rtl="0" algn="ctr">
              <a:lnSpc>
                <a:spcPct val="115000"/>
              </a:lnSpc>
              <a:spcBef>
                <a:spcPts val="1200"/>
              </a:spcBef>
              <a:spcAft>
                <a:spcPts val="0"/>
              </a:spcAft>
              <a:buNone/>
            </a:pPr>
            <a:r>
              <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
        <p:nvSpPr>
          <p:cNvPr id="85" name="Google Shape;85;p15"/>
          <p:cNvSpPr txBox="1"/>
          <p:nvPr/>
        </p:nvSpPr>
        <p:spPr>
          <a:xfrm>
            <a:off x="5193675" y="71300"/>
            <a:ext cx="3126600" cy="15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Recordatorios:</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Foro de esta semana</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Funciones Embebidas</a:t>
            </a:r>
            <a:endParaRPr/>
          </a:p>
        </p:txBody>
      </p:sp>
      <p:sp>
        <p:nvSpPr>
          <p:cNvPr id="91" name="Google Shape;91;p16"/>
          <p:cNvSpPr txBox="1"/>
          <p:nvPr>
            <p:ph idx="1" type="body"/>
          </p:nvPr>
        </p:nvSpPr>
        <p:spPr>
          <a:xfrm>
            <a:off x="471900" y="1919075"/>
            <a:ext cx="47565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solidFill>
                  <a:srgbClr val="595959"/>
                </a:solidFill>
                <a:latin typeface="Lato"/>
                <a:ea typeface="Lato"/>
                <a:cs typeface="Lato"/>
                <a:sym typeface="Lato"/>
              </a:rPr>
              <a:t>Las funciones nativas o embebidas son fundamentales en un lenguaje de programación porque proporcionan acceso directo a servicios esenciales del sistema, evitando que el desarrollador tenga que implementar desde cero mecanismos complejos para realizar tareas básicas, como el manejo de archivos.</a:t>
            </a:r>
            <a:endParaRPr>
              <a:solidFill>
                <a:srgbClr val="595959"/>
              </a:solidFill>
              <a:latin typeface="Lato"/>
              <a:ea typeface="Lato"/>
              <a:cs typeface="Lato"/>
              <a:sym typeface="Lato"/>
            </a:endParaRPr>
          </a:p>
          <a:p>
            <a:pPr indent="0" lvl="0" marL="0" rtl="0" algn="l">
              <a:spcBef>
                <a:spcPts val="1200"/>
              </a:spcBef>
              <a:spcAft>
                <a:spcPts val="1200"/>
              </a:spcAft>
              <a:buNone/>
            </a:pPr>
            <a:r>
              <a:t/>
            </a:r>
            <a:endParaRPr/>
          </a:p>
        </p:txBody>
      </p:sp>
      <p:pic>
        <p:nvPicPr>
          <p:cNvPr id="92" name="Google Shape;92;p16"/>
          <p:cNvPicPr preferRelativeResize="0"/>
          <p:nvPr/>
        </p:nvPicPr>
        <p:blipFill>
          <a:blip r:embed="rId3">
            <a:alphaModFix/>
          </a:blip>
          <a:stretch>
            <a:fillRect/>
          </a:stretch>
        </p:blipFill>
        <p:spPr>
          <a:xfrm>
            <a:off x="5228400" y="1691712"/>
            <a:ext cx="3915600" cy="2463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Funciones For</a:t>
            </a:r>
            <a:r>
              <a:rPr lang="es"/>
              <a:t>áneas</a:t>
            </a:r>
            <a:endParaRPr/>
          </a:p>
        </p:txBody>
      </p:sp>
      <p:sp>
        <p:nvSpPr>
          <p:cNvPr id="98" name="Google Shape;98;p17"/>
          <p:cNvSpPr txBox="1"/>
          <p:nvPr>
            <p:ph idx="1" type="body"/>
          </p:nvPr>
        </p:nvSpPr>
        <p:spPr>
          <a:xfrm>
            <a:off x="471900" y="1919075"/>
            <a:ext cx="4404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solidFill>
                  <a:srgbClr val="595959"/>
                </a:solidFill>
                <a:latin typeface="Lato"/>
                <a:ea typeface="Lato"/>
                <a:cs typeface="Lato"/>
                <a:sym typeface="Lato"/>
              </a:rPr>
              <a:t>Las funciones definidas por el usuario encapsulan instrucciones bajo un identificador para facilitar la reutilización y organización del código y, una vez registradas en la tabla de símbolos, pueden invocarse como cualquier otra función del lenguaje.</a:t>
            </a:r>
            <a:endParaRPr/>
          </a:p>
        </p:txBody>
      </p:sp>
      <p:pic>
        <p:nvPicPr>
          <p:cNvPr id="99" name="Google Shape;99;p17"/>
          <p:cNvPicPr preferRelativeResize="0"/>
          <p:nvPr/>
        </p:nvPicPr>
        <p:blipFill>
          <a:blip r:embed="rId3">
            <a:alphaModFix/>
          </a:blip>
          <a:stretch>
            <a:fillRect/>
          </a:stretch>
        </p:blipFill>
        <p:spPr>
          <a:xfrm>
            <a:off x="4876800" y="1703150"/>
            <a:ext cx="4267199" cy="30168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Closures</a:t>
            </a:r>
            <a:endParaRPr/>
          </a:p>
        </p:txBody>
      </p:sp>
      <p:sp>
        <p:nvSpPr>
          <p:cNvPr id="105" name="Google Shape;105;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solidFill>
                  <a:srgbClr val="595959"/>
                </a:solidFill>
                <a:latin typeface="Lato"/>
                <a:ea typeface="Lato"/>
                <a:cs typeface="Lato"/>
                <a:sym typeface="Lato"/>
              </a:rPr>
              <a:t>Anteriormente se explicó que una función se almacena en un entorno para poder ser invocada posteriormente. Sin embargo, además de estar registrada en dicho entorno, cada función encapsula su propio entorno y opera con un conjunto propio de variables locales.</a:t>
            </a:r>
            <a:endParaRPr>
              <a:solidFill>
                <a:srgbClr val="595959"/>
              </a:solidFill>
              <a:latin typeface="Lato"/>
              <a:ea typeface="Lato"/>
              <a:cs typeface="Lato"/>
              <a:sym typeface="Lato"/>
            </a:endParaRPr>
          </a:p>
          <a:p>
            <a:pPr indent="0" lvl="0" marL="0" rtl="0" algn="l">
              <a:spcBef>
                <a:spcPts val="1200"/>
              </a:spcBef>
              <a:spcAft>
                <a:spcPts val="1200"/>
              </a:spcAft>
              <a:buNone/>
            </a:pPr>
            <a:r>
              <a:rPr lang="es">
                <a:solidFill>
                  <a:srgbClr val="595959"/>
                </a:solidFill>
                <a:latin typeface="Lato"/>
                <a:ea typeface="Lato"/>
                <a:cs typeface="Lato"/>
                <a:sym typeface="Lato"/>
              </a:rPr>
              <a:t>La clausura (closure) es el mecanismo que permite que una función conserve acceso a las variables de su entorno de definición, incluso cuando es invocada en un contexto diferente. Es decir, la función mantiene una referencia al entorno en el que fue creada, lo que le permite utilizar valores declarados fuera de su ámbito inmediato de ejecución.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Resoluci</a:t>
            </a:r>
            <a:r>
              <a:rPr lang="es"/>
              <a:t>ón de Variables</a:t>
            </a:r>
            <a:endParaRPr/>
          </a:p>
        </p:txBody>
      </p:sp>
      <p:pic>
        <p:nvPicPr>
          <p:cNvPr id="111" name="Google Shape;111;p19"/>
          <p:cNvPicPr preferRelativeResize="0"/>
          <p:nvPr/>
        </p:nvPicPr>
        <p:blipFill>
          <a:blip r:embed="rId3">
            <a:alphaModFix/>
          </a:blip>
          <a:stretch>
            <a:fillRect/>
          </a:stretch>
        </p:blipFill>
        <p:spPr>
          <a:xfrm>
            <a:off x="581025" y="524225"/>
            <a:ext cx="3990975" cy="3352800"/>
          </a:xfrm>
          <a:prstGeom prst="rect">
            <a:avLst/>
          </a:prstGeom>
          <a:noFill/>
          <a:ln>
            <a:noFill/>
          </a:ln>
        </p:spPr>
      </p:pic>
      <p:pic>
        <p:nvPicPr>
          <p:cNvPr id="112" name="Google Shape;112;p19"/>
          <p:cNvPicPr preferRelativeResize="0"/>
          <p:nvPr/>
        </p:nvPicPr>
        <p:blipFill>
          <a:blip r:embed="rId4">
            <a:alphaModFix/>
          </a:blip>
          <a:stretch>
            <a:fillRect/>
          </a:stretch>
        </p:blipFill>
        <p:spPr>
          <a:xfrm>
            <a:off x="3405075" y="1608749"/>
            <a:ext cx="5368801" cy="118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idx="1" type="body"/>
          </p:nvPr>
        </p:nvSpPr>
        <p:spPr>
          <a:xfrm>
            <a:off x="471900" y="1919075"/>
            <a:ext cx="51012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595959"/>
                </a:solidFill>
                <a:latin typeface="Lato"/>
                <a:ea typeface="Lato"/>
                <a:cs typeface="Lato"/>
                <a:sym typeface="Lato"/>
              </a:rPr>
              <a:t>El hoisting permite que ciertas declaraciones sean registradas en el entorno antes de la ejecución, haciendo posible usar identificadores antes de que aparezcan explícitamente en el código.</a:t>
            </a:r>
            <a:endParaRPr>
              <a:solidFill>
                <a:srgbClr val="595959"/>
              </a:solidFill>
              <a:latin typeface="Lato"/>
              <a:ea typeface="Lato"/>
              <a:cs typeface="Lato"/>
              <a:sym typeface="Lato"/>
            </a:endParaRPr>
          </a:p>
          <a:p>
            <a:pPr indent="0" lvl="0" marL="0" rtl="0" algn="l">
              <a:spcBef>
                <a:spcPts val="1200"/>
              </a:spcBef>
              <a:spcAft>
                <a:spcPts val="1200"/>
              </a:spcAft>
              <a:buNone/>
            </a:pPr>
            <a:r>
              <a:t/>
            </a:r>
            <a:endParaRPr/>
          </a:p>
        </p:txBody>
      </p:sp>
      <p:sp>
        <p:nvSpPr>
          <p:cNvPr id="118" name="Google Shape;118;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Hoisting</a:t>
            </a:r>
            <a:endParaRPr/>
          </a:p>
        </p:txBody>
      </p:sp>
      <p:pic>
        <p:nvPicPr>
          <p:cNvPr id="119" name="Google Shape;119;p20"/>
          <p:cNvPicPr preferRelativeResize="0"/>
          <p:nvPr/>
        </p:nvPicPr>
        <p:blipFill>
          <a:blip r:embed="rId3">
            <a:alphaModFix/>
          </a:blip>
          <a:stretch>
            <a:fillRect/>
          </a:stretch>
        </p:blipFill>
        <p:spPr>
          <a:xfrm>
            <a:off x="5573047" y="1678825"/>
            <a:ext cx="3570951" cy="341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Call Stack</a:t>
            </a:r>
            <a:endParaRPr/>
          </a:p>
        </p:txBody>
      </p:sp>
      <p:pic>
        <p:nvPicPr>
          <p:cNvPr id="125" name="Google Shape;125;p21"/>
          <p:cNvPicPr preferRelativeResize="0"/>
          <p:nvPr/>
        </p:nvPicPr>
        <p:blipFill>
          <a:blip r:embed="rId3">
            <a:alphaModFix/>
          </a:blip>
          <a:stretch>
            <a:fillRect/>
          </a:stretch>
        </p:blipFill>
        <p:spPr>
          <a:xfrm>
            <a:off x="1647487" y="1166237"/>
            <a:ext cx="5728124" cy="3308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p:nvPr/>
        </p:nvSpPr>
        <p:spPr>
          <a:xfrm>
            <a:off x="2036488" y="882462"/>
            <a:ext cx="5071025" cy="337857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p:nvPr/>
        </p:nvSpPr>
        <p:spPr>
          <a:xfrm>
            <a:off x="1011110" y="347186"/>
            <a:ext cx="7121769" cy="4449128"/>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sz="4800"/>
              <a:t>Ejercicio</a:t>
            </a:r>
            <a:endParaRPr sz="4800"/>
          </a:p>
        </p:txBody>
      </p:sp>
      <p:sp>
        <p:nvSpPr>
          <p:cNvPr id="141" name="Google Shape;141;p24"/>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Analicemos </a:t>
            </a:r>
            <a:r>
              <a:rPr lang="es"/>
              <a:t>cómo</a:t>
            </a:r>
            <a:r>
              <a:rPr lang="es"/>
              <a:t> se estructuran las dependencias de un objeto.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