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Roboto ExtraLight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Roboto Medium"/>
      <p:regular r:id="rId32"/>
      <p:bold r:id="rId33"/>
      <p:italic r:id="rId34"/>
      <p:boldItalic r:id="rId35"/>
    </p:embeddedFont>
    <p:embeddedFont>
      <p:font typeface="Roboto Light"/>
      <p:regular r:id="rId36"/>
      <p:bold r:id="rId37"/>
      <p:italic r:id="rId38"/>
      <p:boldItalic r:id="rId39"/>
    </p:embeddedFont>
    <p:embeddedFont>
      <p:font typeface="Open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g1AFr4vN1W952y0mIY7X8pW9s3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9B550C-0E29-4904-955E-91324B788102}">
  <a:tblStyle styleId="{939B550C-0E29-4904-955E-91324B78810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4CDF817-9CD0-4C33-B196-23F498F33BFF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regular.fntdata"/><Relationship Id="rId20" Type="http://schemas.openxmlformats.org/officeDocument/2006/relationships/slide" Target="slides/slide14.xml"/><Relationship Id="rId42" Type="http://schemas.openxmlformats.org/officeDocument/2006/relationships/font" Target="fonts/OpenSans-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OpenSans-boldItalic.fntdata"/><Relationship Id="rId24" Type="http://schemas.openxmlformats.org/officeDocument/2006/relationships/font" Target="fonts/RobotoExtraLight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Light-italic.fntdata"/><Relationship Id="rId25" Type="http://schemas.openxmlformats.org/officeDocument/2006/relationships/font" Target="fonts/RobotoExtraLight-bold.fntdata"/><Relationship Id="rId28" Type="http://schemas.openxmlformats.org/officeDocument/2006/relationships/font" Target="fonts/Roboto-regular.fntdata"/><Relationship Id="rId27" Type="http://schemas.openxmlformats.org/officeDocument/2006/relationships/font" Target="fonts/RobotoExtraLigh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33" Type="http://schemas.openxmlformats.org/officeDocument/2006/relationships/font" Target="fonts/RobotoMedium-bold.fntdata"/><Relationship Id="rId10" Type="http://schemas.openxmlformats.org/officeDocument/2006/relationships/slide" Target="slides/slide4.xml"/><Relationship Id="rId32" Type="http://schemas.openxmlformats.org/officeDocument/2006/relationships/font" Target="fonts/RobotoMedium-regular.fntdata"/><Relationship Id="rId13" Type="http://schemas.openxmlformats.org/officeDocument/2006/relationships/slide" Target="slides/slide7.xml"/><Relationship Id="rId35" Type="http://schemas.openxmlformats.org/officeDocument/2006/relationships/font" Target="fonts/Roboto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Medium-italic.fntdata"/><Relationship Id="rId15" Type="http://schemas.openxmlformats.org/officeDocument/2006/relationships/slide" Target="slides/slide9.xml"/><Relationship Id="rId37" Type="http://schemas.openxmlformats.org/officeDocument/2006/relationships/font" Target="fonts/RobotoLight-bold.fntdata"/><Relationship Id="rId14" Type="http://schemas.openxmlformats.org/officeDocument/2006/relationships/slide" Target="slides/slide8.xml"/><Relationship Id="rId36" Type="http://schemas.openxmlformats.org/officeDocument/2006/relationships/font" Target="fonts/RobotoLight-regular.fntdata"/><Relationship Id="rId17" Type="http://schemas.openxmlformats.org/officeDocument/2006/relationships/slide" Target="slides/slide11.xml"/><Relationship Id="rId39" Type="http://schemas.openxmlformats.org/officeDocument/2006/relationships/font" Target="fonts/RobotoLight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Light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a701eccf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9a701ecc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84de8b2f8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84de8b2f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84de8b2f8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84de8b2f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84de8b2f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84de8b2f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84de8b2f8_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84de8b2f8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53" name="Google Shape;53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5" name="Google Shape;55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7" name="Google Shape;57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9" name="Google Shape;59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781-compi2-ing-usac/segundo-semetre-2026" TargetMode="External"/><Relationship Id="rId4" Type="http://schemas.openxmlformats.org/officeDocument/2006/relationships/hyperlink" Target="https://ply.readthedocs.io/en/latest/index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60" y="9201150"/>
            <a:ext cx="76749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Diego Felipe Cali Morales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90375" y="24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{939B550C-0E29-4904-955E-91324B788102}</a:tableStyleId>
              </a:tblPr>
              <a:tblGrid>
                <a:gridCol w="1163525"/>
                <a:gridCol w="249887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08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</a:t>
            </a:r>
            <a:r>
              <a:rPr b="1" lang="en-US" sz="8799"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2920100" y="4677850"/>
            <a:ext cx="124479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latin typeface="Open Sans"/>
                <a:ea typeface="Open Sans"/>
                <a:cs typeface="Open Sans"/>
                <a:sym typeface="Open Sans"/>
              </a:rPr>
              <a:t>Analizadores Sintácticos Descendentes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Tarea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Conferencia del Curso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Evaluaci</a:t>
            </a:r>
            <a:r>
              <a:rPr lang="en-US"/>
              <a:t>ón docente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Foro semanal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685451" y="1459488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Análisis sintáctico descendente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Ejercicios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4" name="Google Shape;104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Competencias: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 sz="3100"/>
              <a:t>Analiza las equivalencias sintácticas y semánticas de un lenguaje de alto nivel mediante el mapeo de </a:t>
            </a:r>
            <a:endParaRPr i="1" sz="3100"/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 sz="3100"/>
              <a:t>construcciones a instrucciones de Representación Intermedia tales como C3D, cuádruplas o Bytecode.</a:t>
            </a:r>
            <a:endParaRPr i="1" sz="3100"/>
          </a:p>
        </p:txBody>
      </p:sp>
      <p:sp>
        <p:nvSpPr>
          <p:cNvPr id="105" name="Google Shape;105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Valor de la Semana: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Rigor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a701eccfd_0_10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Comparativa</a:t>
            </a:r>
            <a:endParaRPr/>
          </a:p>
        </p:txBody>
      </p:sp>
      <p:graphicFrame>
        <p:nvGraphicFramePr>
          <p:cNvPr id="111" name="Google Shape;111;g39a701eccfd_0_108"/>
          <p:cNvGraphicFramePr/>
          <p:nvPr/>
        </p:nvGraphicFramePr>
        <p:xfrm>
          <a:off x="3232325" y="2409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{24CDF817-9CD0-4C33-B196-23F498F33BFF}</a:tableStyleId>
              </a:tblPr>
              <a:tblGrid>
                <a:gridCol w="6234250"/>
                <a:gridCol w="5589225"/>
              </a:tblGrid>
              <a:tr h="811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Análisis LL</a:t>
                      </a:r>
                      <a:endParaRPr b="1"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14300" marL="114300">
                    <a:lnL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Análisis LR</a:t>
                      </a:r>
                      <a:endParaRPr b="1"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14300" marL="114300">
                    <a:lnL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1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Simple</a:t>
                      </a:r>
                      <a:endParaRPr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14300" marL="114300">
                    <a:lnL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Complejo</a:t>
                      </a:r>
                      <a:endParaRPr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14300" marL="114300">
                    <a:lnL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5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* Soporta un menor número de gramáticas</a:t>
                      </a:r>
                      <a:endParaRPr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14300" marL="114300">
                    <a:lnL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* </a:t>
                      </a:r>
                      <a:r>
                        <a:rPr lang="en-US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Soporta un mayor número de gramáticas</a:t>
                      </a:r>
                      <a:endParaRPr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14300" marL="114300">
                    <a:lnL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5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** Menor espacio (tamaño de tabla)</a:t>
                      </a:r>
                      <a:endParaRPr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14300" marL="114300">
                    <a:lnL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** Mayor espacio (tamaño de tabla)</a:t>
                      </a:r>
                      <a:endParaRPr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14300" marL="114300">
                    <a:lnL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6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Las acciones se ejecutan de manera inmediata conforme se procesan los símbolos de izquierda a derecha, lo que permite incrustarlas en cualquier posición del cuerpo de la producción sin causar inconvenientes</a:t>
                      </a:r>
                      <a:endParaRPr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14300" marL="114300">
                    <a:lnL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El analizador no puede estar seguro de qué producción está construyendo hasta que ha visto todo su cuerpo y realiza la reducción final</a:t>
                      </a:r>
                      <a:endParaRPr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114300" marL="114300">
                    <a:lnL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4de8b2f8_1_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Construcci</a:t>
            </a:r>
            <a:r>
              <a:rPr lang="en-US"/>
              <a:t>ón del </a:t>
            </a:r>
            <a:r>
              <a:rPr lang="en-US"/>
              <a:t>árbol</a:t>
            </a:r>
            <a:r>
              <a:rPr lang="en-US"/>
              <a:t> ascendente</a:t>
            </a:r>
            <a:endParaRPr/>
          </a:p>
        </p:txBody>
      </p:sp>
      <p:pic>
        <p:nvPicPr>
          <p:cNvPr id="117" name="Google Shape;117;g3f84de8b2f8_1_6" title="animatio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1100" y="320600"/>
            <a:ext cx="3745800" cy="683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84de8b2f8_1_11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Construcci</a:t>
            </a:r>
            <a:r>
              <a:rPr lang="en-US"/>
              <a:t>ón del árbol descendente</a:t>
            </a:r>
            <a:endParaRPr/>
          </a:p>
        </p:txBody>
      </p:sp>
      <p:pic>
        <p:nvPicPr>
          <p:cNvPr id="123" name="Google Shape;123;g3f84de8b2f8_1_11" title="animatio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7713" y="541300"/>
            <a:ext cx="4692574" cy="669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84de8b2f8_1_0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Ejercicio</a:t>
            </a:r>
            <a:endParaRPr/>
          </a:p>
        </p:txBody>
      </p:sp>
      <p:sp>
        <p:nvSpPr>
          <p:cNvPr id="129" name="Google Shape;129;g3f84de8b2f8_1_0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Se recibe una lista de coordenadas que representan paradas en un mapa topográfico. Los puntos se pueden unir de manera secuencial para formar un trayecto principal (&gt;&gt;) o pueden presentar un camino alternativo (O).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La fórmula de distancia euclidiana entre el final de un tramo y el inicio del siguiente: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Para las rutas alternativas (O), la gramática debe definir semánticamente la elección del camino óptimo (el de menor distancia).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g3f84de8b2f8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924" y="4430099"/>
            <a:ext cx="5082000" cy="14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f84de8b2f8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4263" y="6962300"/>
            <a:ext cx="4219630" cy="25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84de8b2f8_1_35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Ejemplos de entradas y salidas</a:t>
            </a:r>
            <a:endParaRPr/>
          </a:p>
        </p:txBody>
      </p:sp>
      <p:pic>
        <p:nvPicPr>
          <p:cNvPr id="137" name="Google Shape;137;g3f84de8b2f8_1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350" y="1974375"/>
            <a:ext cx="9753600" cy="53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f84de8b2f8_1_35"/>
          <p:cNvSpPr txBox="1"/>
          <p:nvPr/>
        </p:nvSpPr>
        <p:spPr>
          <a:xfrm>
            <a:off x="10105525" y="6060300"/>
            <a:ext cx="11643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highlight>
                  <a:schemeClr val="lt2"/>
                </a:highlight>
                <a:latin typeface="Calibri"/>
                <a:ea typeface="Calibri"/>
                <a:cs typeface="Calibri"/>
                <a:sym typeface="Calibri"/>
              </a:rPr>
              <a:t>(d=10)</a:t>
            </a:r>
            <a:endParaRPr sz="2100">
              <a:solidFill>
                <a:schemeClr val="dk1"/>
              </a:solidFill>
              <a:highlight>
                <a:schemeClr val="lt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sp>
        <p:nvSpPr>
          <p:cNvPr id="144" name="Google Shape;144;g39a701eccfd_0_113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Ambigüedad: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Una gramática permite construir más de un árbol sintáctico válido para la misma cadena de texto.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Recursividad por la Izquierda: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Una regla inicia derivándose a sí misma, causando ciclos infinitos en analizadores descendentes.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Factorización: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Técnica para extraer prefijos comunes en reglas gramaticales y permitir decisiones predictivas claras.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50" name="Google Shape;150;g39a701eccfd_0_1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Ejemplo Práctico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61" name="Google Shape;161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Repositorio de Ejemplos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Documentación de PLY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2"/>
          <p:cNvSpPr txBox="1"/>
          <p:nvPr/>
        </p:nvSpPr>
        <p:spPr>
          <a:xfrm>
            <a:off x="5655088" y="1667075"/>
            <a:ext cx="4767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>
                <a:latin typeface="Open Sans"/>
                <a:ea typeface="Open Sans"/>
                <a:cs typeface="Open Sans"/>
                <a:sym typeface="Open Sans"/>
              </a:rPr>
              <a:t>Evaluacón de rendimiento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2"/>
          <p:cNvSpPr txBox="1"/>
          <p:nvPr/>
        </p:nvSpPr>
        <p:spPr>
          <a:xfrm>
            <a:off x="5655069" y="246044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>
                <a:latin typeface="Open Sans"/>
                <a:ea typeface="Open Sans"/>
                <a:cs typeface="Open Sans"/>
                <a:sym typeface="Open Sans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5655069" y="3475309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>
                <a:latin typeface="Open Sans"/>
                <a:ea typeface="Open Sans"/>
                <a:cs typeface="Open Sans"/>
                <a:sym typeface="Open Sans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 txBox="1"/>
          <p:nvPr/>
        </p:nvSpPr>
        <p:spPr>
          <a:xfrm>
            <a:off x="13953088" y="2091258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>
                <a:latin typeface="Open Sans"/>
                <a:ea typeface="Open Sans"/>
                <a:cs typeface="Open Sans"/>
                <a:sym typeface="Open Sans"/>
              </a:rPr>
              <a:t>5:50pm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13953088" y="288462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>
                <a:latin typeface="Open Sans"/>
                <a:ea typeface="Open Sans"/>
                <a:cs typeface="Open Sans"/>
                <a:sym typeface="Open Sans"/>
              </a:rPr>
              <a:t>6:00pm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13953088" y="368028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>
                <a:latin typeface="Open Sans"/>
                <a:ea typeface="Open Sans"/>
                <a:cs typeface="Open Sans"/>
                <a:sym typeface="Open Sans"/>
              </a:rPr>
              <a:t>10min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277200" y="5086350"/>
            <a:ext cx="574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1699">
                <a:latin typeface="Open Sans"/>
                <a:ea typeface="Open Sans"/>
                <a:cs typeface="Open Sans"/>
                <a:sym typeface="Open Sans"/>
              </a:rPr>
              <a:t>Christopher Andrés Valencia Montenegro - 202405038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277209" y="5853000"/>
            <a:ext cx="5550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19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Diego Alberto Maldonado Galvez - 202200092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8" y="6853100"/>
            <a:ext cx="5742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1799">
                <a:latin typeface="Open Sans"/>
                <a:ea typeface="Open Sans"/>
                <a:cs typeface="Open Sans"/>
                <a:sym typeface="Open Sans"/>
              </a:rPr>
              <a:t>MARIO RODRIGO BALAM CHURUNEL - 202200147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277209" y="7600400"/>
            <a:ext cx="5550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>
                <a:latin typeface="Open Sans"/>
                <a:ea typeface="Open Sans"/>
                <a:cs typeface="Open Sans"/>
                <a:sym typeface="Open Sans"/>
              </a:rPr>
              <a:t>Pedro Avila  202200239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277208" y="8367475"/>
            <a:ext cx="574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099">
                <a:latin typeface="Open Sans"/>
                <a:ea typeface="Open Sans"/>
                <a:cs typeface="Open Sans"/>
                <a:sym typeface="Open Sans"/>
              </a:rPr>
              <a:t>Luis Cornelio Marroquín López - 202300727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277208" y="9201150"/>
            <a:ext cx="57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1999">
                <a:latin typeface="Open Sans"/>
                <a:ea typeface="Open Sans"/>
                <a:cs typeface="Open Sans"/>
                <a:sym typeface="Open Sans"/>
              </a:rPr>
              <a:t>Jennifer Michelle Rosales Juarez - 202400063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6406585" y="5074925"/>
            <a:ext cx="58131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99">
                <a:latin typeface="Open Sans"/>
                <a:ea typeface="Open Sans"/>
                <a:cs typeface="Open Sans"/>
                <a:sym typeface="Open Sans"/>
              </a:rPr>
              <a:t>Jazmin Rocío Lopez Lima - 20224306</a:t>
            </a:r>
            <a:r>
              <a:rPr lang="en-US" sz="1699"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99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sz="1699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6406585" y="5853000"/>
            <a:ext cx="581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1999">
                <a:latin typeface="Open Sans"/>
                <a:ea typeface="Open Sans"/>
                <a:cs typeface="Open Sans"/>
                <a:sym typeface="Open Sans"/>
              </a:rPr>
              <a:t>Josue Osbaldo Daniel Córdova Pérez 202202044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6406585" y="6648675"/>
            <a:ext cx="5886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>
                <a:latin typeface="Open Sans"/>
                <a:ea typeface="Open Sans"/>
                <a:cs typeface="Open Sans"/>
                <a:sym typeface="Open Sans"/>
              </a:rPr>
              <a:t>Diego José Castro Lux 202300627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