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Roboto"/>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BB810D-5502-416C-AAB1-08883B5C5E74}">
  <a:tblStyle styleId="{98BB810D-5502-416C-AAB1-08883B5C5E7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5.xml"/><Relationship Id="rId33" Type="http://schemas.openxmlformats.org/officeDocument/2006/relationships/font" Target="fonts/Lato-bold.fntdata"/><Relationship Id="rId10" Type="http://schemas.openxmlformats.org/officeDocument/2006/relationships/slide" Target="slides/slide4.xml"/><Relationship Id="rId32" Type="http://schemas.openxmlformats.org/officeDocument/2006/relationships/font" Target="fonts/Lato-regular.fntdata"/><Relationship Id="rId13" Type="http://schemas.openxmlformats.org/officeDocument/2006/relationships/slide" Target="slides/slide7.xml"/><Relationship Id="rId35" Type="http://schemas.openxmlformats.org/officeDocument/2006/relationships/font" Target="fonts/Lato-boldItalic.fntdata"/><Relationship Id="rId12" Type="http://schemas.openxmlformats.org/officeDocument/2006/relationships/slide" Target="slides/slide6.xml"/><Relationship Id="rId34" Type="http://schemas.openxmlformats.org/officeDocument/2006/relationships/font" Target="fonts/Lato-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087cf727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087cf727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087cf727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087cf727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e087cf727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e087cf727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087cf7276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087cf7276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087cf7276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087cf7276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087cf7276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087cf7276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087cf7276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087cf7276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087cf7276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087cf7276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087cf7276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087cf7276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087cf7276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e087cf7276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087cf7276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e087cf7276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087cf7276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e087cf7276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087cf7276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e087cf7276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087cf7276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087cf7276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087cf7276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087cf7276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087cf7276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087cf7276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087cf7276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087cf7276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087cf7276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087cf7276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087cf7276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e087cf7276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e087cf7276_0_2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e087cf7276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8" name="Google Shape;68;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 sz="2771" u="none" cap="none" strike="noStrike">
                <a:solidFill>
                  <a:srgbClr val="000000"/>
                </a:solidFill>
                <a:latin typeface="Arial"/>
                <a:ea typeface="Arial"/>
                <a:cs typeface="Arial"/>
                <a:sym typeface="Arial"/>
              </a:rPr>
              <a:t>Organización de Lenguajes y Compiladores 2</a:t>
            </a:r>
            <a:r>
              <a:rPr lang="es" sz="2771"/>
              <a:t> Sección &lt;&lt;X&gt;&gt;</a:t>
            </a:r>
            <a:endParaRPr b="0" i="0" sz="2771" u="none" cap="none" strike="noStrike">
              <a:solidFill>
                <a:srgbClr val="000000"/>
              </a:solidFill>
              <a:latin typeface="Arial"/>
              <a:ea typeface="Arial"/>
              <a:cs typeface="Arial"/>
              <a:sym typeface="Arial"/>
            </a:endParaRPr>
          </a:p>
        </p:txBody>
      </p:sp>
      <p:sp>
        <p:nvSpPr>
          <p:cNvPr id="69" name="Google Shape;69;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 sz="2217"/>
              <a:t>&lt;&lt;nombre&gt;&gt;</a:t>
            </a:r>
            <a:endParaRPr b="0" i="0" sz="2217" u="none" cap="none" strike="noStrike">
              <a:solidFill>
                <a:srgbClr val="000000"/>
              </a:solidFill>
              <a:latin typeface="Arial"/>
              <a:ea typeface="Arial"/>
              <a:cs typeface="Arial"/>
              <a:sym typeface="Arial"/>
            </a:endParaRPr>
          </a:p>
        </p:txBody>
      </p:sp>
      <p:graphicFrame>
        <p:nvGraphicFramePr>
          <p:cNvPr id="70" name="Google Shape;70;p13"/>
          <p:cNvGraphicFramePr/>
          <p:nvPr/>
        </p:nvGraphicFramePr>
        <p:xfrm>
          <a:off x="5231045" y="1013300"/>
          <a:ext cx="3000000" cy="3000000"/>
        </p:xfrm>
        <a:graphic>
          <a:graphicData uri="http://schemas.openxmlformats.org/drawingml/2006/table">
            <a:tbl>
              <a:tblPr>
                <a:noFill/>
                <a:tableStyleId>{98BB810D-5502-416C-AAB1-08883B5C5E74}</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 sz="1200" u="none" cap="none" strike="noStrike">
                          <a:solidFill>
                            <a:srgbClr val="000000"/>
                          </a:solidFill>
                          <a:latin typeface="Arial"/>
                          <a:ea typeface="Arial"/>
                          <a:cs typeface="Arial"/>
                          <a:sym typeface="Arial"/>
                        </a:rPr>
                        <a:t>Martes, </a:t>
                      </a:r>
                      <a:r>
                        <a:rPr lang="es" sz="1200"/>
                        <a:t>xx</a:t>
                      </a:r>
                      <a:r>
                        <a:rPr b="0" lang="es" sz="1200" u="none" cap="none" strike="noStrike">
                          <a:solidFill>
                            <a:srgbClr val="000000"/>
                          </a:solidFill>
                          <a:latin typeface="Arial"/>
                          <a:ea typeface="Arial"/>
                          <a:cs typeface="Arial"/>
                          <a:sym typeface="Arial"/>
                        </a:rPr>
                        <a:t>/</a:t>
                      </a:r>
                      <a:r>
                        <a:rPr lang="es" sz="1200"/>
                        <a:t>xx</a:t>
                      </a:r>
                      <a:r>
                        <a:rPr b="0" lang="es" sz="1200" u="none" cap="none" strike="noStrike">
                          <a:solidFill>
                            <a:srgbClr val="000000"/>
                          </a:solidFill>
                          <a:latin typeface="Arial"/>
                          <a:ea typeface="Arial"/>
                          <a:cs typeface="Arial"/>
                          <a:sym typeface="Arial"/>
                        </a:rPr>
                        <a:t>/20</a:t>
                      </a:r>
                      <a:r>
                        <a:rPr lang="es" sz="1200"/>
                        <a:t>2x</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 sz="1200"/>
                        <a:t>17</a:t>
                      </a:r>
                      <a:r>
                        <a:rPr b="0" lang="es" sz="1200" u="none" cap="none" strike="noStrike">
                          <a:solidFill>
                            <a:srgbClr val="000000"/>
                          </a:solidFill>
                          <a:latin typeface="Arial"/>
                          <a:ea typeface="Arial"/>
                          <a:cs typeface="Arial"/>
                          <a:sym typeface="Arial"/>
                        </a:rPr>
                        <a:t>:</a:t>
                      </a:r>
                      <a:r>
                        <a:rPr lang="es" sz="1200"/>
                        <a:t>20</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Representaciones Intermedias</a:t>
            </a:r>
            <a:endParaRPr/>
          </a:p>
        </p:txBody>
      </p:sp>
      <p:sp>
        <p:nvSpPr>
          <p:cNvPr id="76" name="Google Shape;76;p14"/>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Representaciones Intermedias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Código 3 direcciones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Bytecode</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Assembly: Risc-V y ARM64</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Tipos de Datos</a:t>
            </a:r>
            <a:endParaRPr>
              <a:solidFill>
                <a:srgbClr val="595959"/>
              </a:solidFill>
              <a:latin typeface="Lato"/>
              <a:ea typeface="Lato"/>
              <a:cs typeface="Lato"/>
              <a:sym typeface="Lato"/>
            </a:endParaRPr>
          </a:p>
          <a:p>
            <a:pPr indent="0" lvl="0" marL="0" rtl="0" algn="l">
              <a:lnSpc>
                <a:spcPct val="100000"/>
              </a:lnSpc>
              <a:spcBef>
                <a:spcPts val="1200"/>
              </a:spcBef>
              <a:spcAft>
                <a:spcPts val="1200"/>
              </a:spcAft>
              <a:buNone/>
            </a:pPr>
            <a:r>
              <a:t/>
            </a:r>
            <a:endParaRPr/>
          </a:p>
        </p:txBody>
      </p:sp>
      <p:sp>
        <p:nvSpPr>
          <p:cNvPr id="82" name="Google Shape;82;p15"/>
          <p:cNvSpPr txBox="1"/>
          <p:nvPr>
            <p:ph idx="2" type="body"/>
          </p:nvPr>
        </p:nvSpPr>
        <p:spPr>
          <a:xfrm>
            <a:off x="4572000" y="1919075"/>
            <a:ext cx="3999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Recursos:</a:t>
            </a:r>
            <a:endParaRPr/>
          </a:p>
          <a:p>
            <a:pPr indent="-317500" lvl="0" marL="457200" rtl="0" algn="l">
              <a:spcBef>
                <a:spcPts val="1200"/>
              </a:spcBef>
              <a:spcAft>
                <a:spcPts val="0"/>
              </a:spcAft>
              <a:buSzPts val="1400"/>
              <a:buChar char="➔"/>
            </a:pPr>
            <a:r>
              <a:rPr lang="es"/>
              <a:t>&lt;&lt;Agregar ad hoc&gt;&gt;</a:t>
            </a:r>
            <a:endParaRPr/>
          </a:p>
        </p:txBody>
      </p:sp>
      <p:sp>
        <p:nvSpPr>
          <p:cNvPr id="83" name="Google Shape;83;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Agenda</a:t>
            </a:r>
            <a:endParaRPr/>
          </a:p>
        </p:txBody>
      </p:sp>
      <p:sp>
        <p:nvSpPr>
          <p:cNvPr id="84" name="Google Shape;84;p15"/>
          <p:cNvSpPr/>
          <p:nvPr/>
        </p:nvSpPr>
        <p:spPr>
          <a:xfrm>
            <a:off x="1994229" y="633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85" name="Google Shape;85;p15"/>
          <p:cNvSpPr txBox="1"/>
          <p:nvPr/>
        </p:nvSpPr>
        <p:spPr>
          <a:xfrm>
            <a:off x="5075775" y="3355875"/>
            <a:ext cx="3362400" cy="1624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s" sz="1600">
                <a:solidFill>
                  <a:srgbClr val="595959"/>
                </a:solidFill>
                <a:latin typeface="Lato"/>
                <a:ea typeface="Lato"/>
                <a:cs typeface="Lato"/>
                <a:sym typeface="Lato"/>
              </a:rPr>
              <a:t>Valor:</a:t>
            </a:r>
            <a:endParaRPr sz="1600">
              <a:solidFill>
                <a:srgbClr val="595959"/>
              </a:solidFill>
              <a:latin typeface="Lato"/>
              <a:ea typeface="Lato"/>
              <a:cs typeface="Lato"/>
              <a:sym typeface="Lato"/>
            </a:endParaRPr>
          </a:p>
          <a:p>
            <a:pPr indent="0" lvl="0" marL="0" rtl="0" algn="ctr">
              <a:lnSpc>
                <a:spcPct val="115000"/>
              </a:lnSpc>
              <a:spcBef>
                <a:spcPts val="1200"/>
              </a:spcBef>
              <a:spcAft>
                <a:spcPts val="0"/>
              </a:spcAft>
              <a:buNone/>
            </a:pPr>
            <a:r>
              <a:rPr i="1" lang="es" sz="1600">
                <a:solidFill>
                  <a:srgbClr val="595959"/>
                </a:solidFill>
                <a:latin typeface="Lato"/>
                <a:ea typeface="Lato"/>
                <a:cs typeface="Lato"/>
                <a:sym typeface="Lato"/>
              </a:rPr>
              <a:t>Rigor</a:t>
            </a:r>
            <a:endParaRPr i="1" sz="16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i="1">
              <a:solidFill>
                <a:srgbClr val="595959"/>
              </a:solidFill>
              <a:latin typeface="Lato"/>
              <a:ea typeface="Lato"/>
              <a:cs typeface="Lato"/>
              <a:sym typeface="Lato"/>
            </a:endParaRPr>
          </a:p>
        </p:txBody>
      </p:sp>
      <p:sp>
        <p:nvSpPr>
          <p:cNvPr id="86" name="Google Shape;86;p15"/>
          <p:cNvSpPr txBox="1"/>
          <p:nvPr/>
        </p:nvSpPr>
        <p:spPr>
          <a:xfrm>
            <a:off x="5193675" y="71300"/>
            <a:ext cx="3126600" cy="15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Recordatorios:</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Foro de esta semana</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Generaci</a:t>
            </a:r>
            <a:r>
              <a:rPr lang="es"/>
              <a:t>ón de código intermedio</a:t>
            </a:r>
            <a:endParaRPr/>
          </a:p>
        </p:txBody>
      </p:sp>
      <p:sp>
        <p:nvSpPr>
          <p:cNvPr id="92" name="Google Shape;92;p16"/>
          <p:cNvSpPr txBox="1"/>
          <p:nvPr>
            <p:ph idx="1" type="body"/>
          </p:nvPr>
        </p:nvSpPr>
        <p:spPr>
          <a:xfrm>
            <a:off x="471900" y="1919075"/>
            <a:ext cx="81438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El frontend analiza el c</a:t>
            </a:r>
            <a:r>
              <a:rPr lang="es"/>
              <a:t>ódigo fuente y crea una representación intermedia, a partir de la cual el backend genera el código destino.</a:t>
            </a:r>
            <a:endParaRPr/>
          </a:p>
        </p:txBody>
      </p:sp>
      <p:sp>
        <p:nvSpPr>
          <p:cNvPr id="93" name="Google Shape;93;p16"/>
          <p:cNvSpPr/>
          <p:nvPr/>
        </p:nvSpPr>
        <p:spPr>
          <a:xfrm>
            <a:off x="1028850" y="3057776"/>
            <a:ext cx="7086287" cy="1755966"/>
          </a:xfrm>
          <a:custGeom>
            <a:rect b="b" l="l" r="r" t="t"/>
            <a:pathLst>
              <a:path extrusionOk="0" h="3027528" w="10986492">
                <a:moveTo>
                  <a:pt x="0" y="0"/>
                </a:moveTo>
                <a:lnTo>
                  <a:pt x="10986492" y="0"/>
                </a:lnTo>
                <a:lnTo>
                  <a:pt x="10986492" y="3027528"/>
                </a:lnTo>
                <a:lnTo>
                  <a:pt x="0" y="302752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3000"/>
              <a:t>La elecci</a:t>
            </a:r>
            <a:r>
              <a:rPr lang="es" sz="3000"/>
              <a:t>ón o diseño de una representación intermedia varía de un compilador a otro. Una RI puede ser un verdadero lenguaje, o puede consistir en estructuras de datos internas que se comparten mediante las fases del compilador.</a:t>
            </a:r>
            <a:endParaRPr sz="3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a:t>
            </a:r>
            <a:r>
              <a:rPr lang="es"/>
              <a:t>ódigo de Tres Direcciones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Caracteristica Principal</a:t>
            </a:r>
            <a:endParaRPr/>
          </a:p>
        </p:txBody>
      </p:sp>
      <p:sp>
        <p:nvSpPr>
          <p:cNvPr id="109" name="Google Shape;109;p19"/>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Hay m</a:t>
            </a:r>
            <a:r>
              <a:rPr lang="es"/>
              <a:t>áximo un operador en el lado derecho de una instrucción; es decir no se permiten expresiones aritmética acumuladas.</a:t>
            </a:r>
            <a:endParaRPr/>
          </a:p>
        </p:txBody>
      </p:sp>
      <p:sp>
        <p:nvSpPr>
          <p:cNvPr id="110" name="Google Shape;110;p19"/>
          <p:cNvSpPr/>
          <p:nvPr/>
        </p:nvSpPr>
        <p:spPr>
          <a:xfrm>
            <a:off x="4751831" y="796434"/>
            <a:ext cx="2698900" cy="1195486"/>
          </a:xfrm>
          <a:custGeom>
            <a:rect b="b" l="l" r="r" t="t"/>
            <a:pathLst>
              <a:path extrusionOk="0" h="1195486" w="2698900">
                <a:moveTo>
                  <a:pt x="0" y="0"/>
                </a:moveTo>
                <a:lnTo>
                  <a:pt x="2698900" y="0"/>
                </a:lnTo>
                <a:lnTo>
                  <a:pt x="2698900" y="1195486"/>
                </a:lnTo>
                <a:lnTo>
                  <a:pt x="0" y="1195486"/>
                </a:lnTo>
                <a:lnTo>
                  <a:pt x="0" y="0"/>
                </a:lnTo>
                <a:close/>
              </a:path>
            </a:pathLst>
          </a:custGeom>
          <a:blipFill rotWithShape="1">
            <a:blip r:embed="rId3">
              <a:alphaModFix/>
            </a:blip>
            <a:stretch>
              <a:fillRect b="0" l="0" r="0" t="0"/>
            </a:stretch>
          </a:blipFill>
          <a:ln>
            <a:noFill/>
          </a:ln>
        </p:spPr>
      </p:sp>
      <p:sp>
        <p:nvSpPr>
          <p:cNvPr id="111" name="Google Shape;111;p19"/>
          <p:cNvSpPr txBox="1"/>
          <p:nvPr/>
        </p:nvSpPr>
        <p:spPr>
          <a:xfrm>
            <a:off x="4127200" y="2420375"/>
            <a:ext cx="4001400" cy="220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Se basa en:</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Direcciones e Instrucciones</a:t>
            </a:r>
            <a:endParaRPr sz="1800">
              <a:solidFill>
                <a:schemeClr val="lt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Ejemplo</a:t>
            </a:r>
            <a:endParaRPr/>
          </a:p>
        </p:txBody>
      </p:sp>
      <p:sp>
        <p:nvSpPr>
          <p:cNvPr id="117" name="Google Shape;117;p20"/>
          <p:cNvSpPr/>
          <p:nvPr/>
        </p:nvSpPr>
        <p:spPr>
          <a:xfrm>
            <a:off x="1234663" y="844525"/>
            <a:ext cx="6674665" cy="2482079"/>
          </a:xfrm>
          <a:custGeom>
            <a:rect b="b" l="l" r="r" t="t"/>
            <a:pathLst>
              <a:path extrusionOk="0" h="4335509" w="10636917">
                <a:moveTo>
                  <a:pt x="0" y="0"/>
                </a:moveTo>
                <a:lnTo>
                  <a:pt x="10636916" y="0"/>
                </a:lnTo>
                <a:lnTo>
                  <a:pt x="10636916" y="4335509"/>
                </a:lnTo>
                <a:lnTo>
                  <a:pt x="0" y="4335509"/>
                </a:lnTo>
                <a:lnTo>
                  <a:pt x="0" y="0"/>
                </a:lnTo>
                <a:close/>
              </a:path>
            </a:pathLst>
          </a:custGeom>
          <a:blipFill rotWithShape="1">
            <a:blip r:embed="rId3">
              <a:alphaModFix/>
            </a:blip>
            <a:stretch>
              <a:fillRect b="0" l="0" r="0" t="0"/>
            </a:stretch>
          </a:blipFill>
          <a:ln>
            <a:noFill/>
          </a:ln>
        </p:spPr>
      </p:sp>
      <p:sp>
        <p:nvSpPr>
          <p:cNvPr id="118" name="Google Shape;118;p20"/>
          <p:cNvSpPr txBox="1"/>
          <p:nvPr/>
        </p:nvSpPr>
        <p:spPr>
          <a:xfrm>
            <a:off x="1064100" y="3748300"/>
            <a:ext cx="3656100" cy="114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El código de tres direcciones es una representación lineal de un árbol sintáctico o de un Grafo Acíclico Dirigido (GDA).</a:t>
            </a:r>
            <a:endParaRPr sz="1800">
              <a:solidFill>
                <a:schemeClr val="l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Instrucciones B</a:t>
            </a:r>
            <a:r>
              <a:rPr lang="es"/>
              <a:t>ásicas</a:t>
            </a:r>
            <a:endParaRPr/>
          </a:p>
        </p:txBody>
      </p:sp>
      <p:sp>
        <p:nvSpPr>
          <p:cNvPr id="124" name="Google Shape;124;p21"/>
          <p:cNvSpPr txBox="1"/>
          <p:nvPr/>
        </p:nvSpPr>
        <p:spPr>
          <a:xfrm>
            <a:off x="435550" y="1048175"/>
            <a:ext cx="8180100" cy="3673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y op z (operación binaria aritmética o lógica)</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op y (operación unaria aritmética o lógica)</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 (asignación simple)</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goto etiqueta (salto incondicional)</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if x op-relacional y goto etiqueta (salto incondicional)</a:t>
            </a:r>
            <a:endParaRPr sz="1800">
              <a:solidFill>
                <a:schemeClr val="l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Otras Instrucciones </a:t>
            </a:r>
            <a:endParaRPr/>
          </a:p>
        </p:txBody>
      </p:sp>
      <p:sp>
        <p:nvSpPr>
          <p:cNvPr id="130" name="Google Shape;130;p22"/>
          <p:cNvSpPr txBox="1"/>
          <p:nvPr/>
        </p:nvSpPr>
        <p:spPr>
          <a:xfrm>
            <a:off x="435550" y="1048175"/>
            <a:ext cx="2717700" cy="3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Índices: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x[i] := y</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y[i]</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Punteros: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&amp;y</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a:t>
            </a:r>
            <a:endParaRPr sz="1800">
              <a:solidFill>
                <a:schemeClr val="lt2"/>
              </a:solidFill>
              <a:latin typeface="Roboto"/>
              <a:ea typeface="Roboto"/>
              <a:cs typeface="Roboto"/>
              <a:sym typeface="Roboto"/>
            </a:endParaRPr>
          </a:p>
        </p:txBody>
      </p:sp>
      <p:sp>
        <p:nvSpPr>
          <p:cNvPr id="131" name="Google Shape;131;p22"/>
          <p:cNvSpPr txBox="1"/>
          <p:nvPr/>
        </p:nvSpPr>
        <p:spPr>
          <a:xfrm>
            <a:off x="3748425" y="1182875"/>
            <a:ext cx="5176500" cy="3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Índices: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push x (almacena el par</a:t>
            </a:r>
            <a:r>
              <a:rPr lang="es" sz="1800">
                <a:solidFill>
                  <a:schemeClr val="lt2"/>
                </a:solidFill>
                <a:latin typeface="Roboto"/>
                <a:ea typeface="Roboto"/>
                <a:cs typeface="Roboto"/>
                <a:sym typeface="Roboto"/>
              </a:rPr>
              <a:t>ámetro en la pila</a:t>
            </a:r>
            <a:r>
              <a:rPr lang="es" sz="1800">
                <a:solidFill>
                  <a:schemeClr val="lt2"/>
                </a:solidFill>
                <a:latin typeface="Roboto"/>
                <a:ea typeface="Roboto"/>
                <a:cs typeface="Roboto"/>
                <a:sym typeface="Roboto"/>
              </a:rPr>
              <a:t>)</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pop x (saca el valor de la pila y lo almacena en x)</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call etiqueta (llama a la </a:t>
            </a:r>
            <a:r>
              <a:rPr lang="es" sz="1800">
                <a:solidFill>
                  <a:schemeClr val="lt2"/>
                </a:solidFill>
                <a:latin typeface="Roboto"/>
                <a:ea typeface="Roboto"/>
                <a:cs typeface="Roboto"/>
                <a:sym typeface="Roboto"/>
              </a:rPr>
              <a:t>función</a:t>
            </a:r>
            <a:r>
              <a:rPr lang="es" sz="1800">
                <a:solidFill>
                  <a:schemeClr val="lt2"/>
                </a:solidFill>
                <a:latin typeface="Roboto"/>
                <a:ea typeface="Roboto"/>
                <a:cs typeface="Roboto"/>
                <a:sym typeface="Roboto"/>
              </a:rPr>
              <a:t> que comienza con la etiqueta tomando n par</a:t>
            </a:r>
            <a:r>
              <a:rPr lang="es" sz="1800">
                <a:solidFill>
                  <a:schemeClr val="lt2"/>
                </a:solidFill>
                <a:latin typeface="Roboto"/>
                <a:ea typeface="Roboto"/>
                <a:cs typeface="Roboto"/>
                <a:sym typeface="Roboto"/>
              </a:rPr>
              <a:t>ámetros de la pila</a:t>
            </a:r>
            <a:r>
              <a:rPr lang="es" sz="1800">
                <a:solidFill>
                  <a:schemeClr val="lt2"/>
                </a:solidFill>
                <a:latin typeface="Roboto"/>
                <a:ea typeface="Roboto"/>
                <a:cs typeface="Roboto"/>
                <a:sym typeface="Roboto"/>
              </a:rPr>
              <a:t>)</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return y (devuelve el valor de y)</a:t>
            </a:r>
            <a:endParaRPr sz="1800">
              <a:solidFill>
                <a:schemeClr val="lt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226078" y="357800"/>
            <a:ext cx="2808000" cy="953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C3D como estructuras de datos</a:t>
            </a:r>
            <a:endParaRPr/>
          </a:p>
        </p:txBody>
      </p:sp>
      <p:sp>
        <p:nvSpPr>
          <p:cNvPr id="137" name="Google Shape;137;p23"/>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En un compilador, las instrucciones vistas anteriormente pueden implementarse como objetos o como registros, con campos para el operador y los operandos. Tres de estas representaciones se conocen como “cu</a:t>
            </a:r>
            <a:r>
              <a:rPr lang="es"/>
              <a:t>á</a:t>
            </a:r>
            <a:r>
              <a:rPr lang="es"/>
              <a:t>druplos”, “tripletas” y “tripletas indirectas”.</a:t>
            </a:r>
            <a:endParaRPr/>
          </a:p>
        </p:txBody>
      </p:sp>
      <p:sp>
        <p:nvSpPr>
          <p:cNvPr id="138" name="Google Shape;138;p23"/>
          <p:cNvSpPr txBox="1"/>
          <p:nvPr/>
        </p:nvSpPr>
        <p:spPr>
          <a:xfrm>
            <a:off x="3737675" y="570125"/>
            <a:ext cx="4771800" cy="10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En este caso veremos cuádruplos:</a:t>
            </a:r>
            <a:endParaRPr sz="1800">
              <a:solidFill>
                <a:schemeClr val="lt2"/>
              </a:solidFill>
              <a:latin typeface="Roboto"/>
              <a:ea typeface="Roboto"/>
              <a:cs typeface="Roboto"/>
              <a:sym typeface="Roboto"/>
            </a:endParaRPr>
          </a:p>
        </p:txBody>
      </p:sp>
      <p:sp>
        <p:nvSpPr>
          <p:cNvPr id="139" name="Google Shape;139;p23"/>
          <p:cNvSpPr/>
          <p:nvPr/>
        </p:nvSpPr>
        <p:spPr>
          <a:xfrm>
            <a:off x="3331588" y="1465800"/>
            <a:ext cx="5672481" cy="2543916"/>
          </a:xfrm>
          <a:custGeom>
            <a:rect b="b" l="l" r="r" t="t"/>
            <a:pathLst>
              <a:path extrusionOk="0" h="4988071" w="10804726">
                <a:moveTo>
                  <a:pt x="0" y="0"/>
                </a:moveTo>
                <a:lnTo>
                  <a:pt x="10804726" y="0"/>
                </a:lnTo>
                <a:lnTo>
                  <a:pt x="10804726" y="4988072"/>
                </a:lnTo>
                <a:lnTo>
                  <a:pt x="0" y="498807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Bytecode</a:t>
            </a:r>
            <a:endParaRPr/>
          </a:p>
        </p:txBody>
      </p:sp>
      <p:sp>
        <p:nvSpPr>
          <p:cNvPr id="145" name="Google Shape;145;p24"/>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El Bytecode es una representaci</a:t>
            </a:r>
            <a:r>
              <a:rPr lang="es"/>
              <a:t>ón intermedia del programa optimizada para su ejecución en una máquina virtual. En lugar de interpretar directamente el AST el programa se transforma en una secuencia de instrucciones más simples que pueden ejecutarse de forma más eficiente por el </a:t>
            </a:r>
            <a:r>
              <a:rPr lang="es"/>
              <a:t>intérprete</a:t>
            </a:r>
            <a:r>
              <a:rPr lang="es"/>
              <a:t>.</a:t>
            </a:r>
            <a:endParaRPr/>
          </a:p>
        </p:txBody>
      </p:sp>
      <p:pic>
        <p:nvPicPr>
          <p:cNvPr id="146" name="Google Shape;146;p24"/>
          <p:cNvPicPr preferRelativeResize="0"/>
          <p:nvPr/>
        </p:nvPicPr>
        <p:blipFill rotWithShape="1">
          <a:blip r:embed="rId3">
            <a:alphaModFix/>
          </a:blip>
          <a:srcRect b="0" l="0" r="0" t="0"/>
          <a:stretch/>
        </p:blipFill>
        <p:spPr>
          <a:xfrm>
            <a:off x="3622331" y="1216650"/>
            <a:ext cx="5351495" cy="2710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Ejemplo de Java</a:t>
            </a:r>
            <a:endParaRPr/>
          </a:p>
        </p:txBody>
      </p:sp>
      <p:pic>
        <p:nvPicPr>
          <p:cNvPr id="152" name="Google Shape;152;p25"/>
          <p:cNvPicPr preferRelativeResize="0"/>
          <p:nvPr/>
        </p:nvPicPr>
        <p:blipFill rotWithShape="1">
          <a:blip r:embed="rId3">
            <a:alphaModFix/>
          </a:blip>
          <a:srcRect b="0" l="0" r="0" t="0"/>
          <a:stretch/>
        </p:blipFill>
        <p:spPr>
          <a:xfrm>
            <a:off x="243250" y="1122063"/>
            <a:ext cx="8657498" cy="289937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Assembler: ARM64 y Risc-V</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¿Qu</a:t>
            </a:r>
            <a:r>
              <a:rPr lang="es"/>
              <a:t>é es Assembler?</a:t>
            </a:r>
            <a:endParaRPr/>
          </a:p>
        </p:txBody>
      </p:sp>
      <p:sp>
        <p:nvSpPr>
          <p:cNvPr id="163" name="Google Shape;163;p2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Son lenguajes de programaci</a:t>
            </a:r>
            <a:r>
              <a:rPr lang="es"/>
              <a:t>ón dependendientes de la arquitectura cuya funcionalidad es presentar a través de mnemonicos (instrucciones) las operaciones que se pueden realizar de manera directa por el procesador.</a:t>
            </a:r>
            <a:endParaRPr/>
          </a:p>
          <a:p>
            <a:pPr indent="0" lvl="0" marL="0" rtl="0" algn="l">
              <a:spcBef>
                <a:spcPts val="1200"/>
              </a:spcBef>
              <a:spcAft>
                <a:spcPts val="0"/>
              </a:spcAft>
              <a:buNone/>
            </a:pPr>
            <a:r>
              <a:rPr lang="es"/>
              <a:t>Son lenguajes creados por los fabricantes de los procesadores y sus instrucciones se representan de manera 1 a 1 con las instrucciones realizadas por los procesadores.</a:t>
            </a:r>
            <a:endParaRPr/>
          </a:p>
          <a:p>
            <a:pPr indent="0" lvl="0" marL="0" rtl="0" algn="l">
              <a:spcBef>
                <a:spcPts val="1200"/>
              </a:spcBef>
              <a:spcAft>
                <a:spcPts val="1200"/>
              </a:spcAft>
              <a:buNone/>
            </a:pPr>
            <a:r>
              <a:rPr lang="es"/>
              <a:t>Su uso se da cuando es necesario tener alto control y eficiencia de las tareas a realizar.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Risc-V</a:t>
            </a:r>
            <a:endParaRPr/>
          </a:p>
        </p:txBody>
      </p:sp>
      <p:sp>
        <p:nvSpPr>
          <p:cNvPr id="169" name="Google Shape;169;p2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RISC-V es un conjunto de instrucciones (ISA) de arquitectura abierta y libre — nadie es dueño de él, cualquiera puede implementarlo sin pagar licencias. Nació en UC Berkeley en 2010 como proyecto académico y hoy lo usan desde microcontroladores hasta procesadores de alto rendimiento. Su filosofía es minimalista: pocas instrucciones simples y bien definidas, con extensiones opcionales para multiplicación, punto flotante, vectores, etc.</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ARM64 (AArch64)</a:t>
            </a:r>
            <a:endParaRPr/>
          </a:p>
        </p:txBody>
      </p:sp>
      <p:sp>
        <p:nvSpPr>
          <p:cNvPr id="175" name="Google Shape;175;p2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ARM64 (AArch64) </a:t>
            </a:r>
            <a:r>
              <a:rPr lang="es"/>
              <a:t>es el conjunto de instrucciones de 64 bits de ARM Holdings. A diferencia de RISC-V, es propietario — para fabricar un chip ARM hay que licenciarlo. Es la arquitectura detrás de prácticamente todos los teléfonos modernos, los chips Apple Silicon (M1, M2…), y buena parte de los servidores en la nube hoy.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Tipos de Datos</a:t>
            </a:r>
            <a:endParaRPr/>
          </a:p>
        </p:txBody>
      </p:sp>
      <p:sp>
        <p:nvSpPr>
          <p:cNvPr id="181" name="Google Shape;181;p30"/>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Int: Es un valor </a:t>
            </a:r>
            <a:r>
              <a:rPr lang="es"/>
              <a:t>numérico</a:t>
            </a:r>
            <a:r>
              <a:rPr lang="es"/>
              <a:t> simple que puede ser almacenado en registros de </a:t>
            </a:r>
            <a:r>
              <a:rPr lang="es"/>
              <a:t>propósito</a:t>
            </a:r>
            <a:r>
              <a:rPr lang="es"/>
              <a:t> general, las operaciones son directas.</a:t>
            </a:r>
            <a:endParaRPr/>
          </a:p>
          <a:p>
            <a:pPr indent="0" lvl="0" marL="0" rtl="0" algn="l">
              <a:spcBef>
                <a:spcPts val="1200"/>
              </a:spcBef>
              <a:spcAft>
                <a:spcPts val="1200"/>
              </a:spcAft>
              <a:buNone/>
            </a:pPr>
            <a:r>
              <a:rPr lang="es"/>
              <a:t>Float: Son valores </a:t>
            </a:r>
            <a:r>
              <a:rPr lang="es"/>
              <a:t>numéricos</a:t>
            </a:r>
            <a:r>
              <a:rPr lang="es"/>
              <a:t> que deben ser debidamente </a:t>
            </a:r>
            <a:r>
              <a:rPr lang="es"/>
              <a:t>identificados</a:t>
            </a:r>
            <a:r>
              <a:rPr lang="es"/>
              <a:t> dado que no pueden operarse con Int regulares. Requieren de conversiones </a:t>
            </a:r>
            <a:r>
              <a:rPr lang="es"/>
              <a:t>explícitas</a:t>
            </a:r>
            <a:r>
              <a:rPr lang="es"/>
              <a:t> para operar con otro tipo de valores.</a:t>
            </a:r>
            <a:endParaRPr/>
          </a:p>
        </p:txBody>
      </p:sp>
      <p:sp>
        <p:nvSpPr>
          <p:cNvPr id="182" name="Google Shape;182;p30"/>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Char: Son valores numericos que deben ser codificados seg</a:t>
            </a:r>
            <a:r>
              <a:rPr lang="es"/>
              <a:t>ún un estandar (usualemente ASCII) para ser vistos como la letra que representan.</a:t>
            </a:r>
            <a:endParaRPr/>
          </a:p>
          <a:p>
            <a:pPr indent="0" lvl="0" marL="0" rtl="0" algn="l">
              <a:spcBef>
                <a:spcPts val="1200"/>
              </a:spcBef>
              <a:spcAft>
                <a:spcPts val="1200"/>
              </a:spcAft>
              <a:buNone/>
            </a:pPr>
            <a:r>
              <a:rPr lang="es"/>
              <a:t>String: Es un puntero que señala una secuencia de chars en memoria.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p:nvPr/>
        </p:nvSpPr>
        <p:spPr>
          <a:xfrm>
            <a:off x="2036488" y="882462"/>
            <a:ext cx="5071025" cy="3378571"/>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p:nvPr/>
        </p:nvSpPr>
        <p:spPr>
          <a:xfrm>
            <a:off x="1011110" y="347186"/>
            <a:ext cx="7121769" cy="4449128"/>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sz="4800"/>
              <a:t>Ejercicio:</a:t>
            </a:r>
            <a:endParaRPr sz="4800"/>
          </a:p>
        </p:txBody>
      </p:sp>
      <p:sp>
        <p:nvSpPr>
          <p:cNvPr id="198" name="Google Shape;198;p3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Traducci</a:t>
            </a:r>
            <a:r>
              <a:rPr lang="es"/>
              <a:t>ón de operaciones </a:t>
            </a:r>
            <a:r>
              <a:rPr lang="es"/>
              <a:t>aritméticas</a:t>
            </a:r>
            <a:r>
              <a:rPr lang="es"/>
              <a:t> básicas a C3D y Cuadruplos.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